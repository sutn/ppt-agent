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svg"/><Relationship Id="rId12" Type="http://schemas.openxmlformats.org/officeDocument/2006/relationships/image" Target="../media/image-9-12.png"/><Relationship Id="rId13" Type="http://schemas.openxmlformats.org/officeDocument/2006/relationships/image" Target="../media/image-9-13.svg"/><Relationship Id="rId14" Type="http://schemas.openxmlformats.org/officeDocument/2006/relationships/image" Target="../media/image-9-14.png"/><Relationship Id="rId15" Type="http://schemas.openxmlformats.org/officeDocument/2006/relationships/image" Target="../media/image-9-15.svg"/><Relationship Id="rId16" Type="http://schemas.openxmlformats.org/officeDocument/2006/relationships/image" Target="../media/image-9-16.png"/><Relationship Id="rId17" Type="http://schemas.openxmlformats.org/officeDocument/2006/relationships/image" Target="../media/image-9-17.svg"/><Relationship Id="rId18" Type="http://schemas.openxmlformats.org/officeDocument/2006/relationships/image" Target="../media/image-9-18.png"/><Relationship Id="rId19" Type="http://schemas.openxmlformats.org/officeDocument/2006/relationships/image" Target="../media/image-9-19.svg"/><Relationship Id="rId20" Type="http://schemas.openxmlformats.org/officeDocument/2006/relationships/image" Target="../media/image-9-20.png"/><Relationship Id="rId21" Type="http://schemas.openxmlformats.org/officeDocument/2006/relationships/image" Target="../media/image-9-21.svg"/><Relationship Id="rId22" Type="http://schemas.openxmlformats.org/officeDocument/2006/relationships/image" Target="../media/image-9-22.png"/><Relationship Id="rId23" Type="http://schemas.openxmlformats.org/officeDocument/2006/relationships/image" Target="../media/image-9-23.svg"/><Relationship Id="rId24" Type="http://schemas.openxmlformats.org/officeDocument/2006/relationships/image" Target="../media/image-9-24.png"/><Relationship Id="rId25" Type="http://schemas.openxmlformats.org/officeDocument/2006/relationships/image" Target="../media/image-9-25.svg"/><Relationship Id="rId26" Type="http://schemas.openxmlformats.org/officeDocument/2006/relationships/image" Target="../media/image-9-26.png"/><Relationship Id="rId27" Type="http://schemas.openxmlformats.org/officeDocument/2006/relationships/image" Target="../media/image-9-27.svg"/><Relationship Id="rId28" Type="http://schemas.openxmlformats.org/officeDocument/2006/relationships/image" Target="../media/image-9-28.png"/><Relationship Id="rId29" Type="http://schemas.openxmlformats.org/officeDocument/2006/relationships/image" Target="../media/image-9-29.svg"/><Relationship Id="rId30" Type="http://schemas.openxmlformats.org/officeDocument/2006/relationships/image" Target="../media/image-9-30.png"/><Relationship Id="rId31" Type="http://schemas.openxmlformats.org/officeDocument/2006/relationships/image" Target="../media/image-9-31.sv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sv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sv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sv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sv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sv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sv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3" name="Shape 1"/>
          <p:cNvSpPr/>
          <p:nvPr/>
        </p:nvSpPr>
        <p:spPr>
          <a:xfrm>
            <a:off x="4286250" y="1736179"/>
            <a:ext cx="571500" cy="28575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1" y="1979712"/>
            <a:ext cx="6629399" cy="4071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17"/>
              </a:lnSpc>
              <a:spcAft>
                <a:spcPts val="1350"/>
              </a:spcAft>
              <a:buNone/>
            </a:pPr>
            <a:r>
              <a:rPr lang="zh-CN" altLang="en-US" sz="2400" b="1" dirty="0">
                <a:solidFill>
                  <a:srgbClr val="FFFFFF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勒布朗·詹姆斯：定义全面性的篮球传奇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57722" y="2969468"/>
            <a:ext cx="5715000" cy="8501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7"/>
              </a:lnSpc>
              <a:buNone/>
            </a:pPr>
            <a:r>
              <a:rPr lang="zh-CN" altLang="en-US" sz="1200" dirty="0">
                <a:solidFill>
                  <a:srgbClr val="2D3748">
                    <a:alpha val="85000"/>
                  </a:srgbClr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从克利夫兰到洛杉矶，一位超越位置定义的篮球运动员。他的职业生涯不仅是关于得分与冠军，更是关于重新诠释“全面性”的标杆，其影响力贯穿整个篮球历史与文化。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 rot="-600000">
            <a:off x="7258050" y="2983756"/>
            <a:ext cx="628650" cy="8215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80"/>
              </a:lnSpc>
              <a:buNone/>
            </a:pPr>
            <a:r>
              <a:rPr lang="en-US" sz="3500" dirty="0">
                <a:solidFill>
                  <a:srgbClr val="FFFFFF">
                    <a:alpha val="15000"/>
                  </a:srgbClr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💡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8358250" y="4699173"/>
            <a:ext cx="357187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1 / 15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7722" y="2969468"/>
            <a:ext cx="5715000" cy="850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285055"/>
            <a:ext cx="8143874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2"/>
              </a:lnSpc>
              <a:spcAft>
                <a:spcPts val="562"/>
              </a:spcAft>
              <a:buNone/>
            </a:pPr>
            <a:r>
              <a:rPr lang="zh-CN" altLang="en-US" sz="20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生涯全景：从个人荣誉到不朽影响力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71500" y="690364"/>
            <a:ext cx="8143874" cy="1928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探索篮球传奇的完整轨迹与持久遗产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463" y="1166118"/>
            <a:ext cx="42862" cy="36933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00125" y="1382068"/>
            <a:ext cx="7715249" cy="62865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28575" dir="5400000">
              <a:srgbClr val="000000">
                <a:alpha val="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289" y="1524943"/>
            <a:ext cx="342900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79923" y="1524211"/>
            <a:ext cx="6865143" cy="2214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2"/>
              </a:lnSpc>
              <a:buNone/>
            </a:pPr>
            <a:r>
              <a:rPr lang="zh-CN" altLang="en-US" sz="12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铸就王座：个人荣誉与巅峰数据一览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000125" y="2239193"/>
            <a:ext cx="7715249" cy="62865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28575" dir="5400000">
              <a:srgbClr val="000000">
                <a:alpha val="3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5289" y="2382068"/>
            <a:ext cx="342900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79923" y="2381337"/>
            <a:ext cx="6865143" cy="2214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2"/>
              </a:lnSpc>
              <a:buNone/>
            </a:pPr>
            <a:r>
              <a:rPr lang="zh-CN" altLang="en-US" sz="12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传奇轨迹：三城纪元中的关键时刻与领导力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1000125" y="3096319"/>
            <a:ext cx="7715249" cy="62865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28575" dir="5400000">
              <a:srgbClr val="000000">
                <a:alpha val="3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5289" y="3239194"/>
            <a:ext cx="342900" cy="342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79923" y="3238463"/>
            <a:ext cx="6865143" cy="2214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2"/>
              </a:lnSpc>
              <a:buNone/>
            </a:pPr>
            <a:r>
              <a:rPr lang="zh-CN" altLang="en-US" sz="12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超越数据：历史地位与文化影响力的深远分析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6500813" y="2298402"/>
            <a:ext cx="1428750" cy="1428750"/>
          </a:xfrm>
          <a:prstGeom prst="ellipse">
            <a:avLst/>
          </a:prstGeom>
          <a:ln w="55563">
            <a:solidFill>
              <a:srgbClr val="22543D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679407" y="2476996"/>
            <a:ext cx="1071562" cy="1071562"/>
          </a:xfrm>
          <a:prstGeom prst="ellipse">
            <a:avLst/>
          </a:prstGeom>
          <a:ln w="55563">
            <a:solidFill>
              <a:srgbClr val="38A169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858000" y="2655590"/>
            <a:ext cx="714375" cy="714375"/>
          </a:xfrm>
          <a:prstGeom prst="ellipse">
            <a:avLst/>
          </a:prstGeom>
          <a:ln w="55563">
            <a:solidFill>
              <a:srgbClr val="F6AD5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272560" y="3593405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19" name="Shape 13"/>
          <p:cNvSpPr/>
          <p:nvPr/>
        </p:nvSpPr>
        <p:spPr>
          <a:xfrm>
            <a:off x="6401048" y="3593405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6529537" y="3593405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6658025" y="3593405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6786513" y="3593405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6915001" y="3593405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7043490" y="3593405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7171978" y="3593405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6272560" y="3721894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27" name="Shape 21"/>
          <p:cNvSpPr/>
          <p:nvPr/>
        </p:nvSpPr>
        <p:spPr>
          <a:xfrm>
            <a:off x="6401048" y="3721894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6529537" y="3721894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6658025" y="3721894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6786513" y="3721894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6915001" y="3721894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7043490" y="3721894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33" name="Shape 27"/>
          <p:cNvSpPr/>
          <p:nvPr/>
        </p:nvSpPr>
        <p:spPr>
          <a:xfrm>
            <a:off x="7171978" y="3721894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34" name="Shape 28"/>
          <p:cNvSpPr/>
          <p:nvPr/>
        </p:nvSpPr>
        <p:spPr>
          <a:xfrm>
            <a:off x="6272560" y="3850382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35" name="Shape 29"/>
          <p:cNvSpPr/>
          <p:nvPr/>
        </p:nvSpPr>
        <p:spPr>
          <a:xfrm>
            <a:off x="6401048" y="3850382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6529537" y="3850382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37" name="Shape 31"/>
          <p:cNvSpPr/>
          <p:nvPr/>
        </p:nvSpPr>
        <p:spPr>
          <a:xfrm>
            <a:off x="6658025" y="3850382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38" name="Shape 32"/>
          <p:cNvSpPr/>
          <p:nvPr/>
        </p:nvSpPr>
        <p:spPr>
          <a:xfrm>
            <a:off x="6786513" y="3850382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39" name="Shape 33"/>
          <p:cNvSpPr/>
          <p:nvPr/>
        </p:nvSpPr>
        <p:spPr>
          <a:xfrm>
            <a:off x="6915001" y="3850382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40" name="Shape 34"/>
          <p:cNvSpPr/>
          <p:nvPr/>
        </p:nvSpPr>
        <p:spPr>
          <a:xfrm>
            <a:off x="7043490" y="3850382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sp>
        <p:nvSpPr>
          <p:cNvPr id="41" name="Shape 35"/>
          <p:cNvSpPr/>
          <p:nvPr/>
        </p:nvSpPr>
        <p:spPr>
          <a:xfrm>
            <a:off x="7171978" y="3850382"/>
            <a:ext cx="57150" cy="57150"/>
          </a:xfrm>
          <a:prstGeom prst="ellipse">
            <a:avLst/>
          </a:prstGeom>
          <a:solidFill>
            <a:srgbClr val="22543D">
              <a:alpha val="20000"/>
            </a:srgbClr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500" y="4543450"/>
            <a:ext cx="1428750" cy="28575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895208" y="4630836"/>
            <a:ext cx="821531" cy="300037"/>
          </a:xfrm>
          <a:prstGeom prst="roundRect">
            <a:avLst>
              <a:gd name="adj" fmla="val 36281"/>
            </a:avLst>
          </a:prstGeom>
          <a:solidFill>
            <a:srgbClr val="FFFFFF"/>
          </a:solidFill>
          <a:ln w="7937">
            <a:solidFill>
              <a:srgbClr val="C6F6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第 2 / 15 页</a:t>
            </a:r>
            <a:endParaRPr lang="en-US" sz="8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0125" y="1382068"/>
            <a:ext cx="7715249" cy="62865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195289" y="1524943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1</a:t>
            </a:r>
            <a:endParaRPr lang="en-US" sz="110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0125" y="2239193"/>
            <a:ext cx="7715249" cy="62865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195289" y="2382068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2</a:t>
            </a:r>
            <a:endParaRPr lang="en-US" sz="1100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00125" y="3096319"/>
            <a:ext cx="7715249" cy="62865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195289" y="3239194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3" name="Shape 1"/>
          <p:cNvSpPr/>
          <p:nvPr/>
        </p:nvSpPr>
        <p:spPr>
          <a:xfrm>
            <a:off x="4357564" y="2084685"/>
            <a:ext cx="428625" cy="28575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4" name="Text 2"/>
          <p:cNvSpPr/>
          <p:nvPr/>
        </p:nvSpPr>
        <p:spPr>
          <a:xfrm>
            <a:off x="2057339" y="2285305"/>
            <a:ext cx="5029200" cy="4071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17"/>
              </a:lnSpc>
              <a:spcAft>
                <a:spcPts val="900"/>
              </a:spcAft>
              <a:buNone/>
            </a:pPr>
            <a:r>
              <a:rPr lang="zh-CN" altLang="en-US" sz="2400" b="1" dirty="0">
                <a:solidFill>
                  <a:srgbClr val="FFFFFF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铸就王座：个人荣誉与巅峰数据一览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57339" y="2808077"/>
            <a:ext cx="5029200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200" dirty="0">
                <a:solidFill>
                  <a:srgbClr val="2D3748">
                    <a:alpha val="80000"/>
                  </a:srgbClr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在个人成就的巅峰，数据如何客观地证明其统治力？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58250" y="4699173"/>
            <a:ext cx="357187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0FF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86750" y="0"/>
            <a:ext cx="857250" cy="1000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7981" y="284249"/>
            <a:ext cx="5350668" cy="3000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675"/>
              </a:spcAft>
              <a:buNone/>
            </a:pPr>
            <a:r>
              <a:rPr lang="zh-CN" altLang="en-US" sz="17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四座总冠军与四次MVP，证明其在最高舞台的统治力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427981" y="667779"/>
            <a:ext cx="5350668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0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这些核心奖项是衡量球员历史地位的最硬通货，詹姆斯的收集彰显了其超长的巅峰期。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7628608" y="284907"/>
            <a:ext cx="1085850" cy="185737"/>
          </a:xfrm>
          <a:prstGeom prst="roundRect">
            <a:avLst>
              <a:gd name="adj" fmla="val 61539"/>
            </a:avLst>
          </a:prstGeom>
          <a:solidFill>
            <a:srgbClr val="2D5F4A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叙事角色：situation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8625" y="1090129"/>
          <a:ext cx="8286749" cy="914400"/>
        </p:xfrm>
        <a:graphic>
          <a:graphicData uri="http://schemas.openxmlformats.org/drawingml/2006/table">
            <a:tbl>
              <a:tblPr/>
              <a:tblGrid>
                <a:gridCol w="1823020"/>
                <a:gridCol w="2320230"/>
                <a:gridCol w="2071687"/>
                <a:gridCol w="207181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荣誉类别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28587" marB="128587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核心成就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28587" marB="128587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数量/频率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28587" marB="128587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具体实例与证据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28587" marB="128587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团队至高荣誉 NBA总冠军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14300" marB="1143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四次夺冠 CASE 2012、2013、2016、2020年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14300" marB="1143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543D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4次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14300" marB="1143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随热火两连冠（2012-13），率骑士完成史诗逆转（2016），带领湖人登顶（2020）。 跨越三支不同球队夺冠，展现非凡适应力与领导力。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14300" marB="1143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个人赛季巅峰 常规赛MVP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14300" marB="1143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四次荣获 DATA 2009、2010、2012、2013年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14300" marB="1143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543D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4次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14300" marB="1143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2009-10赛季蝉联，2012-13赛季再次蝉联，展现连续四个赛季的绝对统治力。 证明其在常规赛层面长期作为联盟最佳球员。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14300" marB="1143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总决赛最强表现 总决赛MVP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14300" marB="1143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四次当选 ANALYSIS 与四次总冠军一一对应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14300" marB="1143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543D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4次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14300" marB="1143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ea typeface="Segoe UI" pitchFamily="34" charset="-122"/>
                          <a:latin typeface="Segoe UI" pitchFamily="34" charset="0"/>
                          <a:cs typeface="Segoe UI" pitchFamily="34" charset="-120"/>
                        </a:rPr>
                        <a:t>每次夺冠征程中均为球队绝对核心和表现最佳者，FMVP奖项证明其冠军含金量。 从数据、关键时刻表现到领导力全面制霸总决赛。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2875" marR="142875" marT="114300" marB="1143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428625" y="5493047"/>
            <a:ext cx="8286749" cy="264319"/>
          </a:xfrm>
          <a:prstGeom prst="rect">
            <a:avLst/>
          </a:prstGeom>
          <a:ln/>
        </p:spPr>
      </p:sp>
      <p:sp>
        <p:nvSpPr>
          <p:cNvPr id="10" name="Text 5"/>
          <p:cNvSpPr/>
          <p:nvPr/>
        </p:nvSpPr>
        <p:spPr>
          <a:xfrm>
            <a:off x="428638" y="5618460"/>
            <a:ext cx="3700462" cy="128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b="1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演讲备注：</a:t>
            </a:r>
            <a:pPr algn="l" indent="0" marL="0"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这是詹姆斯历史地位的第一块基石，强调荣誉的“含金量”和对应关系。</a:t>
            </a:r>
            <a:endParaRPr lang="en-US" sz="700" dirty="0"/>
          </a:p>
        </p:txBody>
      </p:sp>
      <p:sp>
        <p:nvSpPr>
          <p:cNvPr id="11" name="Text 6"/>
          <p:cNvSpPr/>
          <p:nvPr/>
        </p:nvSpPr>
        <p:spPr>
          <a:xfrm>
            <a:off x="8116813" y="5607744"/>
            <a:ext cx="600075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第 4 / 15 页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625" y="5493047"/>
            <a:ext cx="8286749" cy="2643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3999" cy="571500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4" name="Text 2"/>
          <p:cNvSpPr/>
          <p:nvPr/>
        </p:nvSpPr>
        <p:spPr>
          <a:xfrm>
            <a:off x="2707482" y="142875"/>
            <a:ext cx="3729037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跨越二十年的全明星常青树与历史得分王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71475" y="743471"/>
            <a:ext cx="6343649" cy="735806"/>
          </a:xfrm>
          <a:prstGeom prst="roundRect">
            <a:avLst>
              <a:gd name="adj" fmla="val 1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4287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088" y="943694"/>
            <a:ext cx="71437" cy="71437"/>
          </a:xfrm>
          <a:prstGeom prst="ellipse">
            <a:avLst/>
          </a:prstGeom>
          <a:solidFill>
            <a:srgbClr val="22543D"/>
          </a:solidFill>
          <a:ln/>
        </p:spPr>
      </p:sp>
      <p:sp>
        <p:nvSpPr>
          <p:cNvPr id="7" name="Text 5"/>
          <p:cNvSpPr/>
          <p:nvPr/>
        </p:nvSpPr>
        <p:spPr>
          <a:xfrm>
            <a:off x="466577" y="865063"/>
            <a:ext cx="2589857" cy="198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spcAft>
                <a:spcPts val="450"/>
              </a:spcAft>
              <a:buNone/>
            </a:pPr>
            <a:r>
              <a:rPr lang="zh-CN" altLang="en-US" sz="1300" b="1" dirty="0">
                <a:solidFill>
                  <a:srgbClr val="22543D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稳定性象征：超过20次全明星入选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6972" y="1151310"/>
            <a:ext cx="6036468" cy="2143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7"/>
              </a:lnSpc>
              <a:buNone/>
            </a:pPr>
            <a:r>
              <a:rPr lang="zh-CN" altLang="en-US" sz="11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自2005年起从未缺席，是联盟影响力与个人表现的持续证明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1475" y="1594644"/>
            <a:ext cx="6343649" cy="735806"/>
          </a:xfrm>
          <a:prstGeom prst="roundRect">
            <a:avLst>
              <a:gd name="adj" fmla="val 1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4287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088" y="1794867"/>
            <a:ext cx="71437" cy="71437"/>
          </a:xfrm>
          <a:prstGeom prst="ellipse">
            <a:avLst/>
          </a:prstGeom>
          <a:solidFill>
            <a:srgbClr val="22543D"/>
          </a:solidFill>
          <a:ln/>
        </p:spPr>
      </p:sp>
      <p:sp>
        <p:nvSpPr>
          <p:cNvPr id="11" name="Text 9"/>
          <p:cNvSpPr/>
          <p:nvPr/>
        </p:nvSpPr>
        <p:spPr>
          <a:xfrm>
            <a:off x="466577" y="1716236"/>
            <a:ext cx="3113236" cy="198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spcAft>
                <a:spcPts val="450"/>
              </a:spcAft>
              <a:buNone/>
            </a:pPr>
            <a:r>
              <a:rPr lang="zh-CN" altLang="en-US" sz="1300" b="1" dirty="0">
                <a:solidFill>
                  <a:srgbClr val="22543D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史诗里程碑：登顶NBA历史常规赛得分王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314" y="2026295"/>
            <a:ext cx="388974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7"/>
              </a:lnSpc>
              <a:buNone/>
            </a:pPr>
            <a:r>
              <a:rPr lang="zh-CN" altLang="en-US" sz="11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2023年超越贾巴尔，将纪录提升至一个前所未有的高度（截至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2036" y="2012801"/>
            <a:ext cx="528637" cy="185737"/>
          </a:xfrm>
          <a:prstGeom prst="roundRect">
            <a:avLst>
              <a:gd name="adj" fmla="val 18935"/>
            </a:avLst>
          </a:prstGeom>
          <a:solidFill>
            <a:srgbClr val="F6AD55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9"/>
              </a:lnSpc>
              <a:buNone/>
            </a:pPr>
            <a:r>
              <a:rPr lang="zh-CN" altLang="en-US" sz="1000" b="1" dirty="0">
                <a:solidFill>
                  <a:srgbClr val="FFFFFF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2026年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0649" y="2026295"/>
            <a:ext cx="1143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7"/>
              </a:lnSpc>
              <a:buNone/>
            </a:pPr>
            <a:r>
              <a:rPr lang="zh-CN" altLang="en-US" sz="11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，纪录仍在延续）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1475" y="2445817"/>
            <a:ext cx="6343649" cy="735806"/>
          </a:xfrm>
          <a:prstGeom prst="roundRect">
            <a:avLst>
              <a:gd name="adj" fmla="val 1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4287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088" y="2646040"/>
            <a:ext cx="71437" cy="71437"/>
          </a:xfrm>
          <a:prstGeom prst="ellipse">
            <a:avLst/>
          </a:prstGeom>
          <a:solidFill>
            <a:srgbClr val="22543D"/>
          </a:solidFill>
          <a:ln/>
        </p:spPr>
      </p:sp>
      <p:sp>
        <p:nvSpPr>
          <p:cNvPr id="17" name="Text 15"/>
          <p:cNvSpPr/>
          <p:nvPr/>
        </p:nvSpPr>
        <p:spPr>
          <a:xfrm>
            <a:off x="466577" y="2567409"/>
            <a:ext cx="257063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spcAft>
                <a:spcPts val="450"/>
              </a:spcAft>
              <a:buNone/>
            </a:pPr>
            <a:r>
              <a:rPr lang="zh-CN" altLang="en-US" sz="1300" b="1" dirty="0">
                <a:solidFill>
                  <a:srgbClr val="1A6B3A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少年老成：最年轻得分记录保持者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6972" y="2853655"/>
            <a:ext cx="6036468" cy="2143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7"/>
              </a:lnSpc>
              <a:buNone/>
            </a:pPr>
            <a:r>
              <a:rPr lang="zh-CN" altLang="en-US" sz="11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2004年成为最年轻千分先生，职业生涯早期就展现非凡得分天赋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86600" y="743223"/>
            <a:ext cx="2286000" cy="9144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4287" dir="54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00900" y="873398"/>
            <a:ext cx="2057400" cy="2928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2000" b="1" dirty="0">
                <a:solidFill>
                  <a:srgbClr val="F6AD55"/>
                </a:solidFill>
                <a:ea typeface="Arial" pitchFamily="34" charset="-122"/>
                <a:latin typeface="Arial" pitchFamily="34" charset="0"/>
                <a:cs typeface="Arial" pitchFamily="34" charset="-120"/>
              </a:rPr>
              <a:t>20+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00900" y="1222995"/>
            <a:ext cx="2057400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zh-CN" altLang="en-US" sz="800" dirty="0">
                <a:solidFill>
                  <a:srgbClr val="68D391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次全明星入选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zh-CN" altLang="en-US" sz="800" dirty="0">
                <a:solidFill>
                  <a:srgbClr val="68D391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自2005年连续入选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86600" y="1772493"/>
            <a:ext cx="2286000" cy="9144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4287" dir="5400000">
              <a:srgbClr val="000000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00900" y="1902668"/>
            <a:ext cx="2057400" cy="2928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2000" b="1" dirty="0">
                <a:solidFill>
                  <a:srgbClr val="F6AD55"/>
                </a:solidFill>
                <a:ea typeface="Arial" pitchFamily="34" charset="-122"/>
                <a:latin typeface="Arial" pitchFamily="34" charset="0"/>
                <a:cs typeface="Arial" pitchFamily="34" charset="-120"/>
              </a:rPr>
              <a:t>40,000+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00900" y="2252266"/>
            <a:ext cx="2057400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zh-CN" altLang="en-US" sz="800" dirty="0">
                <a:solidFill>
                  <a:srgbClr val="68D391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常规赛总得分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zh-CN" altLang="en-US" sz="800" dirty="0">
                <a:solidFill>
                  <a:srgbClr val="68D391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NBA历史第一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86600" y="2801764"/>
            <a:ext cx="2286000" cy="9144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4287" dir="5400000">
              <a:srgbClr val="00000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00900" y="2931939"/>
            <a:ext cx="2057400" cy="2928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2000" b="1" dirty="0">
                <a:solidFill>
                  <a:srgbClr val="22543D"/>
                </a:solidFill>
                <a:ea typeface="Arial" pitchFamily="34" charset="-122"/>
                <a:latin typeface="Arial" pitchFamily="34" charset="0"/>
                <a:cs typeface="Arial" pitchFamily="34" charset="-120"/>
              </a:rPr>
              <a:t>2004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00900" y="3281536"/>
            <a:ext cx="2057400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zh-CN" altLang="en-US" sz="800" dirty="0">
                <a:solidFill>
                  <a:srgbClr val="68D391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年成为最年轻千分先生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zh-CN" altLang="en-US" sz="800" dirty="0">
                <a:solidFill>
                  <a:srgbClr val="68D391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开启传奇生涯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86600" y="3831803"/>
            <a:ext cx="2286000" cy="707231"/>
          </a:xfrm>
          <a:prstGeom prst="roundRect">
            <a:avLst>
              <a:gd name="adj" fmla="val 2612"/>
            </a:avLst>
          </a:prstGeom>
          <a:solidFill>
            <a:srgbClr val="F0FFF4"/>
          </a:solidFill>
          <a:ln/>
        </p:spPr>
      </p:sp>
      <p:sp>
        <p:nvSpPr>
          <p:cNvPr id="29" name="Text 27"/>
          <p:cNvSpPr/>
          <p:nvPr/>
        </p:nvSpPr>
        <p:spPr>
          <a:xfrm>
            <a:off x="6779468" y="3924747"/>
            <a:ext cx="2100262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37"/>
              </a:spcAft>
              <a:buNone/>
            </a:pPr>
            <a:r>
              <a:rPr lang="zh-CN" altLang="en-US" sz="700" dirty="0">
                <a:solidFill>
                  <a:srgbClr val="68D391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叙事角色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779468" y="4118347"/>
            <a:ext cx="2100262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AD55"/>
                </a:solidFill>
                <a:ea typeface="Arial" pitchFamily="34" charset="-122"/>
                <a:latin typeface="Arial" pitchFamily="34" charset="0"/>
                <a:cs typeface="Arial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79468" y="4311154"/>
            <a:ext cx="2100262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37"/>
              </a:spcBef>
              <a:buNone/>
            </a:pPr>
            <a:r>
              <a:rPr lang="zh-CN" altLang="en-US" sz="700" dirty="0">
                <a:solidFill>
                  <a:srgbClr val="68D391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生涯背景与成就概述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14313" y="4721423"/>
            <a:ext cx="2857500" cy="2786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zh-CN" altLang="en-US" sz="700" i="1" dirty="0">
                <a:solidFill>
                  <a:srgbClr val="68D391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这两点分别代表了他生涯的"广度"（漫长巅峰）和"高度"（打破历史纪录）。</a:t>
            </a:r>
            <a:endParaRPr lang="en-US" sz="7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08306" y="857250"/>
            <a:ext cx="21431" cy="371475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8886900" y="1143000"/>
            <a:ext cx="71437" cy="71437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35" name="Shape 32"/>
          <p:cNvSpPr/>
          <p:nvPr/>
        </p:nvSpPr>
        <p:spPr>
          <a:xfrm>
            <a:off x="8886900" y="2143125"/>
            <a:ext cx="71437" cy="71437"/>
          </a:xfrm>
          <a:prstGeom prst="ellipse">
            <a:avLst/>
          </a:prstGeom>
          <a:solidFill>
            <a:srgbClr val="22543D"/>
          </a:solidFill>
          <a:ln/>
        </p:spPr>
      </p:sp>
      <p:sp>
        <p:nvSpPr>
          <p:cNvPr id="36" name="Shape 33"/>
          <p:cNvSpPr/>
          <p:nvPr/>
        </p:nvSpPr>
        <p:spPr>
          <a:xfrm>
            <a:off x="8886900" y="3143250"/>
            <a:ext cx="71437" cy="71437"/>
          </a:xfrm>
          <a:prstGeom prst="ellipse">
            <a:avLst/>
          </a:prstGeom>
          <a:solidFill>
            <a:srgbClr val="F6AD55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475" y="743471"/>
            <a:ext cx="6343649" cy="735806"/>
          </a:xfrm>
          <a:prstGeom prst="rect">
            <a:avLst/>
          </a:prstGeom>
        </p:spPr>
      </p:pic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475" y="1594644"/>
            <a:ext cx="6343649" cy="735806"/>
          </a:xfrm>
          <a:prstGeom prst="rect">
            <a:avLst/>
          </a:prstGeom>
        </p:spPr>
      </p:pic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1475" y="2445817"/>
            <a:ext cx="6343649" cy="735806"/>
          </a:xfrm>
          <a:prstGeom prst="rect">
            <a:avLst/>
          </a:prstGeom>
        </p:spPr>
      </p:pic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86600" y="743223"/>
            <a:ext cx="2286000" cy="914400"/>
          </a:xfrm>
          <a:prstGeom prst="rect">
            <a:avLst/>
          </a:prstGeom>
        </p:spPr>
      </p:pic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86600" y="1772493"/>
            <a:ext cx="2286000" cy="914400"/>
          </a:xfrm>
          <a:prstGeom prst="rect">
            <a:avLst/>
          </a:prstGeom>
        </p:spPr>
      </p:pic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86600" y="2801764"/>
            <a:ext cx="2286000" cy="91440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6686600" y="3831803"/>
            <a:ext cx="2286000" cy="707231"/>
          </a:xfrm>
          <a:prstGeom prst="roundRect">
            <a:avLst>
              <a:gd name="adj" fmla="val 2612"/>
            </a:avLst>
          </a:prstGeom>
          <a:ln w="7937">
            <a:solidFill>
              <a:srgbClr val="C6F6D5"/>
            </a:solidFill>
            <a:prstDash val="dash"/>
          </a:ln>
        </p:spPr>
      </p:sp>
      <p:sp>
        <p:nvSpPr>
          <p:cNvPr id="44" name="Text 35"/>
          <p:cNvSpPr/>
          <p:nvPr/>
        </p:nvSpPr>
        <p:spPr>
          <a:xfrm>
            <a:off x="8228720" y="4759375"/>
            <a:ext cx="700087" cy="242887"/>
          </a:xfrm>
          <a:prstGeom prst="roundRect">
            <a:avLst>
              <a:gd name="adj" fmla="val 47059"/>
            </a:avLst>
          </a:prstGeom>
          <a:solidFill>
            <a:srgbClr val="FFFFFF">
              <a:alpha val="90000"/>
            </a:srgbClr>
          </a:solidFill>
          <a:ln w="7937">
            <a:solidFill>
              <a:srgbClr val="C6F6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00" dirty="0">
                <a:solidFill>
                  <a:srgbClr val="68D391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第 5/15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3" name="Shape 1"/>
          <p:cNvSpPr/>
          <p:nvPr/>
        </p:nvSpPr>
        <p:spPr>
          <a:xfrm>
            <a:off x="4357688" y="1723529"/>
            <a:ext cx="428625" cy="28575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4" name="Text 2"/>
          <p:cNvSpPr/>
          <p:nvPr/>
        </p:nvSpPr>
        <p:spPr>
          <a:xfrm>
            <a:off x="1585913" y="1924149"/>
            <a:ext cx="5972174" cy="4071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17"/>
              </a:lnSpc>
              <a:spcAft>
                <a:spcPts val="900"/>
              </a:spcAft>
              <a:buNone/>
            </a:pPr>
            <a:r>
              <a:rPr lang="zh-CN" altLang="en-US" sz="2400" b="1" dirty="0">
                <a:solidFill>
                  <a:srgbClr val="FFFFFF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传奇轨迹：三城纪元中的关键时刻与领导力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85913" y="3018817"/>
            <a:ext cx="5972174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spcBef>
                <a:spcPts val="2250"/>
              </a:spcBef>
              <a:buNone/>
            </a:pPr>
            <a:r>
              <a:rPr lang="zh-CN" altLang="en-US" sz="1200" dirty="0">
                <a:solidFill>
                  <a:srgbClr val="2D3748">
                    <a:alpha val="80000"/>
                  </a:srgbClr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当传奇轨迹在三个城市展开，关键时刻往往意味着领导力的严峻考验与抉择。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58250" y="4699173"/>
            <a:ext cx="357187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6 / 15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85913" y="3018817"/>
            <a:ext cx="5972174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8072437" y="3286125"/>
            <a:ext cx="1571625" cy="1571625"/>
          </a:xfrm>
          <a:prstGeom prst="ellipse">
            <a:avLst/>
          </a:prstGeom>
          <a:solidFill>
            <a:srgbClr val="F6AD55">
              <a:alpha val="45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4312" y="857250"/>
            <a:ext cx="714375" cy="714375"/>
          </a:xfrm>
          <a:prstGeom prst="ellipse">
            <a:avLst/>
          </a:prstGeom>
          <a:solidFill>
            <a:srgbClr val="F6AD55">
              <a:alpha val="45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50"/>
            <a:ext cx="9143999" cy="5572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72375" y="-214362"/>
            <a:ext cx="1000125" cy="10001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85366" y="714201"/>
            <a:ext cx="4479131" cy="62865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4287" dir="5400000">
              <a:srgbClr val="000000">
                <a:alpha val="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在克利夫兰的首次旅程，他将个人天赋转化为联盟级别的影响力，并首次将球队带入总决赛。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85366" y="1442802"/>
            <a:ext cx="4479131" cy="1743075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4287" dir="5400000">
              <a:srgbClr val="000000">
                <a:alpha val="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2388" y="1635447"/>
            <a:ext cx="57150" cy="57150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10" name="Text 7"/>
          <p:cNvSpPr/>
          <p:nvPr/>
        </p:nvSpPr>
        <p:spPr>
          <a:xfrm>
            <a:off x="580926" y="1571253"/>
            <a:ext cx="1628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75"/>
              </a:lnSpc>
              <a:buNone/>
            </a:pPr>
            <a:r>
              <a:rPr lang="zh-CN" altLang="en-US" sz="11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两夺MVP，确立个人巅峰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0863" y="1842802"/>
            <a:ext cx="4171950" cy="1214437"/>
          </a:xfrm>
          <a:prstGeom prst="roundRect">
            <a:avLst>
              <a:gd name="adj" fmla="val 3543"/>
            </a:avLst>
          </a:prstGeom>
          <a:solidFill>
            <a:srgbClr val="D97706">
              <a:alpha val="6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75878" y="2187972"/>
            <a:ext cx="3921918" cy="128587"/>
          </a:xfrm>
          <a:prstGeom prst="roundRect">
            <a:avLst>
              <a:gd name="adj" fmla="val 88889"/>
            </a:avLst>
          </a:prstGeom>
          <a:solidFill>
            <a:srgbClr val="F6AD55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DATA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575878" y="2447962"/>
            <a:ext cx="3921918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00" b="1" dirty="0">
                <a:solidFill>
                  <a:srgbClr val="F6AD55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2009、2010</a:t>
            </a:r>
            <a:pPr algn="l" indent="0" marL="0">
              <a:lnSpc>
                <a:spcPts val="1530"/>
              </a:lnSpc>
              <a:spcBef>
                <a:spcPts val="562"/>
              </a:spcBef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 年蝉联常规赛MVP，球队战绩与个人数据双双登顶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5366" y="3285976"/>
            <a:ext cx="4479131" cy="1743075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4287" dir="5400000">
              <a:srgbClr val="000000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2388" y="3478560"/>
            <a:ext cx="57150" cy="57150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16" name="Text 13"/>
          <p:cNvSpPr/>
          <p:nvPr/>
        </p:nvSpPr>
        <p:spPr>
          <a:xfrm>
            <a:off x="580926" y="3414365"/>
            <a:ext cx="21416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75"/>
              </a:lnSpc>
              <a:buNone/>
            </a:pPr>
            <a:r>
              <a:rPr lang="zh-CN" altLang="en-US" sz="11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早期全能雏形：场均接近30+7+7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0863" y="3686460"/>
            <a:ext cx="4171950" cy="1928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Bef>
                <a:spcPts val="562"/>
              </a:spcBef>
              <a:buNone/>
            </a:pPr>
            <a:r>
              <a:rPr lang="zh-CN" altLang="en-US" sz="8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展示了作为组织前锋的无限潜力，为后期全面打法奠定基础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964472" y="714288"/>
            <a:ext cx="3893343" cy="4314825"/>
          </a:xfrm>
          <a:prstGeom prst="roundRect">
            <a:avLst>
              <a:gd name="adj" fmla="val 4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4287" dir="5400000">
              <a:srgbClr val="000000">
                <a:alpha val="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130676" y="906934"/>
            <a:ext cx="57150" cy="57150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20" name="Text 17"/>
          <p:cNvSpPr/>
          <p:nvPr/>
        </p:nvSpPr>
        <p:spPr>
          <a:xfrm>
            <a:off x="5259214" y="842739"/>
            <a:ext cx="2620367" cy="198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4"/>
              </a:lnSpc>
              <a:buNone/>
            </a:pPr>
            <a:r>
              <a:rPr lang="zh-CN" altLang="en-US" sz="11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单核带队极限：2007年首次闯入总决赛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129969" y="1124620"/>
            <a:ext cx="3586162" cy="3207543"/>
          </a:xfrm>
          <a:prstGeom prst="roundRect">
            <a:avLst>
              <a:gd name="adj" fmla="val 508"/>
            </a:avLst>
          </a:prstGeom>
          <a:solidFill>
            <a:srgbClr val="D97706">
              <a:alpha val="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251413" y="2482652"/>
            <a:ext cx="3343275" cy="128587"/>
          </a:xfrm>
          <a:prstGeom prst="roundRect">
            <a:avLst>
              <a:gd name="adj" fmla="val 88889"/>
            </a:avLst>
          </a:prstGeom>
          <a:solidFill>
            <a:srgbClr val="F6AD55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CASE STUDY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5251413" y="2740620"/>
            <a:ext cx="3343275" cy="2357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spcBef>
                <a:spcPts val="562"/>
              </a:spcBef>
              <a:buNone/>
            </a:pPr>
            <a:r>
              <a:rPr lang="zh-CN" altLang="en-US" sz="9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东部决赛上演</a:t>
            </a:r>
            <a:pPr algn="l" indent="0" marL="0">
              <a:lnSpc>
                <a:spcPts val="1822"/>
              </a:lnSpc>
              <a:buNone/>
            </a:pPr>
            <a:r>
              <a:rPr lang="zh-CN" altLang="en-US" sz="1000" b="1" dirty="0">
                <a:solidFill>
                  <a:srgbClr val="F6AD55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「死亡之瞳」</a:t>
            </a:r>
            <a:pPr algn="l" indent="0" marL="0">
              <a:lnSpc>
                <a:spcPts val="1721"/>
              </a:lnSpc>
              <a:spcBef>
                <a:spcPts val="562"/>
              </a:spcBef>
              <a:buNone/>
            </a:pPr>
            <a:r>
              <a:rPr lang="zh-CN" altLang="en-US" sz="9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式表演，击败活塞晋级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344282" y="4589562"/>
            <a:ext cx="3157537" cy="21431"/>
          </a:xfrm>
          <a:prstGeom prst="rect">
            <a:avLst/>
          </a:prstGeom>
          <a:solidFill>
            <a:srgbClr val="C6F6D5"/>
          </a:solidFill>
          <a:ln/>
        </p:spPr>
      </p:sp>
      <p:sp>
        <p:nvSpPr>
          <p:cNvPr id="25" name="Text 22"/>
          <p:cNvSpPr/>
          <p:nvPr/>
        </p:nvSpPr>
        <p:spPr>
          <a:xfrm>
            <a:off x="8323089" y="4923284"/>
            <a:ext cx="53578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第 7 / 15 页</a:t>
            </a:r>
            <a:endParaRPr lang="en-US" sz="7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" y="5122118"/>
            <a:ext cx="4264818" cy="21431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366" y="714201"/>
            <a:ext cx="4479131" cy="628650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5366" y="1442802"/>
            <a:ext cx="4479131" cy="174307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50863" y="1842802"/>
            <a:ext cx="4171950" cy="1214437"/>
          </a:xfrm>
          <a:prstGeom prst="roundRect">
            <a:avLst>
              <a:gd name="adj" fmla="val 3543"/>
            </a:avLst>
          </a:prstGeom>
          <a:ln w="7937">
            <a:solidFill>
              <a:srgbClr val="D97706">
                <a:alpha val="1200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5366" y="3285976"/>
            <a:ext cx="4479131" cy="1743075"/>
          </a:xfrm>
          <a:prstGeom prst="rect">
            <a:avLst/>
          </a:prstGeom>
        </p:spPr>
      </p:pic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4472" y="714288"/>
            <a:ext cx="3893343" cy="4314825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5129969" y="1124620"/>
            <a:ext cx="3586162" cy="3207543"/>
          </a:xfrm>
          <a:prstGeom prst="roundRect">
            <a:avLst>
              <a:gd name="adj" fmla="val 508"/>
            </a:avLst>
          </a:prstGeom>
          <a:ln w="7937">
            <a:solidFill>
              <a:srgbClr val="D97706">
                <a:alpha val="12000"/>
              </a:srgbClr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398190" y="157113"/>
            <a:ext cx="4271962" cy="2428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骑士1.0时期：天选之子成长为联盟门面与得分机器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5485755" y="4432424"/>
            <a:ext cx="271462" cy="271462"/>
          </a:xfrm>
          <a:prstGeom prst="ellipse">
            <a:avLst/>
          </a:prstGeom>
          <a:solidFill>
            <a:srgbClr val="F6A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37"/>
              </a:spcAft>
              <a:buNone/>
            </a:pPr>
            <a:r>
              <a:rPr lang="en-US" sz="700" b="1" dirty="0">
                <a:solidFill>
                  <a:srgbClr val="FFFFFF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03</a:t>
            </a:r>
            <a:endParaRPr lang="en-US" sz="700" dirty="0"/>
          </a:p>
        </p:txBody>
      </p:sp>
      <p:sp>
        <p:nvSpPr>
          <p:cNvPr id="35" name="Text 27"/>
          <p:cNvSpPr/>
          <p:nvPr/>
        </p:nvSpPr>
        <p:spPr>
          <a:xfrm>
            <a:off x="5189352" y="4745037"/>
            <a:ext cx="86439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"/>
              </a:spcBef>
              <a:buNone/>
            </a:pPr>
            <a:r>
              <a:rPr lang="zh-CN" altLang="en-US" sz="6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进入联盟</a:t>
            </a:r>
            <a:endParaRPr lang="en-US" sz="600" dirty="0"/>
          </a:p>
        </p:txBody>
      </p:sp>
      <p:sp>
        <p:nvSpPr>
          <p:cNvPr id="36" name="Text 28"/>
          <p:cNvSpPr/>
          <p:nvPr/>
        </p:nvSpPr>
        <p:spPr>
          <a:xfrm>
            <a:off x="6331992" y="4432448"/>
            <a:ext cx="314325" cy="314325"/>
          </a:xfrm>
          <a:prstGeom prst="ellipse">
            <a:avLst/>
          </a:prstGeom>
          <a:solidFill>
            <a:srgbClr val="F6AD55"/>
          </a:solidFill>
          <a:ln/>
          <a:effectLst>
            <a:outerShdw sx="100000" sy="100000" kx="0" ky="0" algn="bl" rotWithShape="0" blurRad="100012" dist="28575" dir="5400000">
              <a:srgbClr val="D97706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37"/>
              </a:spcAft>
              <a:buNone/>
            </a:pPr>
            <a:r>
              <a:rPr lang="en-US" sz="700" b="1" dirty="0">
                <a:solidFill>
                  <a:srgbClr val="FFFFFF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07</a:t>
            </a:r>
            <a:endParaRPr lang="en-US" sz="700" dirty="0"/>
          </a:p>
        </p:txBody>
      </p:sp>
      <p:sp>
        <p:nvSpPr>
          <p:cNvPr id="37" name="Text 29"/>
          <p:cNvSpPr/>
          <p:nvPr/>
        </p:nvSpPr>
        <p:spPr>
          <a:xfrm>
            <a:off x="6056957" y="4787949"/>
            <a:ext cx="86439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"/>
              </a:spcBef>
              <a:buNone/>
            </a:pPr>
            <a:r>
              <a:rPr lang="zh-CN" altLang="en-US" sz="600" b="1" dirty="0">
                <a:solidFill>
                  <a:srgbClr val="F6AD55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闯入总决赛</a:t>
            </a:r>
            <a:endParaRPr lang="en-US" sz="600" dirty="0"/>
          </a:p>
        </p:txBody>
      </p:sp>
      <p:sp>
        <p:nvSpPr>
          <p:cNvPr id="38" name="Text 30"/>
          <p:cNvSpPr/>
          <p:nvPr/>
        </p:nvSpPr>
        <p:spPr>
          <a:xfrm>
            <a:off x="7221091" y="4432424"/>
            <a:ext cx="271462" cy="271462"/>
          </a:xfrm>
          <a:prstGeom prst="ellipse">
            <a:avLst/>
          </a:prstGeom>
          <a:solidFill>
            <a:srgbClr val="F6A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37"/>
              </a:spcAft>
              <a:buNone/>
            </a:pPr>
            <a:r>
              <a:rPr lang="en-US" sz="700" b="1" dirty="0">
                <a:solidFill>
                  <a:srgbClr val="FFFFFF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09</a:t>
            </a:r>
            <a:endParaRPr lang="en-US" sz="700" dirty="0"/>
          </a:p>
        </p:txBody>
      </p:sp>
      <p:sp>
        <p:nvSpPr>
          <p:cNvPr id="39" name="Text 31"/>
          <p:cNvSpPr/>
          <p:nvPr/>
        </p:nvSpPr>
        <p:spPr>
          <a:xfrm>
            <a:off x="6924626" y="4745037"/>
            <a:ext cx="86439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"/>
              </a:spcBef>
              <a:buNone/>
            </a:pPr>
            <a:r>
              <a:rPr lang="zh-CN" altLang="en-US" sz="6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蝉联MVP</a:t>
            </a:r>
            <a:endParaRPr lang="en-US" sz="600" dirty="0"/>
          </a:p>
        </p:txBody>
      </p:sp>
      <p:sp>
        <p:nvSpPr>
          <p:cNvPr id="40" name="Text 32"/>
          <p:cNvSpPr/>
          <p:nvPr/>
        </p:nvSpPr>
        <p:spPr>
          <a:xfrm>
            <a:off x="8088759" y="4432424"/>
            <a:ext cx="271462" cy="271462"/>
          </a:xfrm>
          <a:prstGeom prst="ellipse">
            <a:avLst/>
          </a:prstGeom>
          <a:solidFill>
            <a:srgbClr val="F6A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37"/>
              </a:spcAft>
              <a:buNone/>
            </a:pPr>
            <a:r>
              <a:rPr lang="en-US" sz="700" b="1" dirty="0">
                <a:solidFill>
                  <a:srgbClr val="FFFFFF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10</a:t>
            </a:r>
            <a:endParaRPr lang="en-US" sz="700" dirty="0"/>
          </a:p>
        </p:txBody>
      </p:sp>
      <p:sp>
        <p:nvSpPr>
          <p:cNvPr id="41" name="Text 33"/>
          <p:cNvSpPr/>
          <p:nvPr/>
        </p:nvSpPr>
        <p:spPr>
          <a:xfrm>
            <a:off x="7792294" y="4745037"/>
            <a:ext cx="86439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"/>
              </a:spcBef>
              <a:buNone/>
            </a:pPr>
            <a:r>
              <a:rPr lang="zh-CN" altLang="en-US" sz="6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离开克城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3999" cy="571500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4" name="Text 2"/>
          <p:cNvSpPr/>
          <p:nvPr/>
        </p:nvSpPr>
        <p:spPr>
          <a:xfrm>
            <a:off x="428638" y="142875"/>
            <a:ext cx="4200525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热火时期：组成三巨头，开创现代篮球赢球公式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00875" y="0"/>
            <a:ext cx="1428750" cy="1428750"/>
          </a:xfrm>
          <a:prstGeom prst="ellipse">
            <a:avLst/>
          </a:prstGeom>
          <a:solidFill>
            <a:srgbClr val="22543D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7188" y="3643312"/>
            <a:ext cx="1071562" cy="1071562"/>
          </a:xfrm>
          <a:prstGeom prst="ellipse">
            <a:avLst/>
          </a:prstGeom>
          <a:solidFill>
            <a:srgbClr val="22543D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85751" y="1609254"/>
            <a:ext cx="5572125" cy="21332"/>
          </a:xfrm>
          <a:prstGeom prst="rect">
            <a:avLst/>
          </a:prstGeom>
          <a:solidFill>
            <a:srgbClr val="C6F6D5"/>
          </a:solidFill>
          <a:ln/>
        </p:spPr>
      </p:sp>
      <p:sp>
        <p:nvSpPr>
          <p:cNvPr id="8" name="Shape 6"/>
          <p:cNvSpPr/>
          <p:nvPr/>
        </p:nvSpPr>
        <p:spPr>
          <a:xfrm>
            <a:off x="285751" y="2331033"/>
            <a:ext cx="5572125" cy="950119"/>
          </a:xfrm>
          <a:prstGeom prst="roundRect">
            <a:avLst>
              <a:gd name="adj" fmla="val 868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79822" y="2472457"/>
            <a:ext cx="5207793" cy="19288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75"/>
              </a:spcAft>
              <a:buNone/>
            </a:pPr>
            <a:r>
              <a:rPr lang="zh-CN" altLang="en-US" sz="1000" b="1" dirty="0">
                <a:solidFill>
                  <a:srgbClr val="22543D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团队成功：四年四进总决赛，两连冠建立王朝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9822" y="2472457"/>
            <a:ext cx="71437" cy="71437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11" name="Text 9"/>
          <p:cNvSpPr/>
          <p:nvPr/>
        </p:nvSpPr>
        <p:spPr>
          <a:xfrm>
            <a:off x="479822" y="2751311"/>
            <a:ext cx="5207793" cy="3857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zh-CN" altLang="en-US" sz="800" b="1" dirty="0">
                <a:solidFill>
                  <a:srgbClr val="F6AD55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案例研究：</a:t>
            </a:r>
            <a:pPr algn="l" indent="0" marL="0">
              <a:lnSpc>
                <a:spcPts val="1530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 与韦德、波什组成联盟最强三巨头，2012、2013年夺冠，开创了“超级团队”时代和小球阵容雏形。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5751" y="3425924"/>
            <a:ext cx="5572125" cy="900112"/>
          </a:xfrm>
          <a:prstGeom prst="roundRect">
            <a:avLst>
              <a:gd name="adj" fmla="val 9675"/>
            </a:avLst>
          </a:prstGeom>
          <a:solidFill>
            <a:srgbClr val="F6AD5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38116"/>
            <a:ext cx="5229225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zh-CN" altLang="en-US" sz="1100" b="1" dirty="0">
                <a:solidFill>
                  <a:srgbClr val="FFFFFF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心智成熟：学会“赢球的方式不止一种”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800525"/>
            <a:ext cx="5229225" cy="4143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000" dirty="0">
                <a:solidFill>
                  <a:srgbClr val="FFFFFF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从“The Decision”争议中走出，不再执着于个人英雄主义，转而追求最高效的赢球方式，完成了领袖心态的终极蜕变。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2188" y="785812"/>
            <a:ext cx="2786062" cy="3857625"/>
          </a:xfrm>
          <a:prstGeom prst="roundRect">
            <a:avLst>
              <a:gd name="adj" fmla="val 1010"/>
            </a:avLst>
          </a:prstGeom>
          <a:solidFill>
            <a:srgbClr val="F0FFF4"/>
          </a:solidFill>
          <a:ln/>
          <a:effectLst>
            <a:outerShdw sx="100000" sy="100000" kx="0" ky="0" algn="bl" rotWithShape="0" blurRad="85725" dist="28575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43638" y="1592511"/>
            <a:ext cx="2443162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125"/>
              </a:spcAft>
              <a:buNone/>
            </a:pPr>
            <a:r>
              <a:rPr lang="zh-CN" altLang="en-US" sz="1200" b="1" dirty="0">
                <a:solidFill>
                  <a:srgbClr val="F6AD55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关键进化：角色转型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3538" y="1978992"/>
            <a:ext cx="200025" cy="200025"/>
          </a:xfrm>
          <a:prstGeom prst="ellipse">
            <a:avLst/>
          </a:prstGeom>
          <a:solidFill>
            <a:srgbClr val="38A1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60"/>
              </a:lnSpc>
              <a:spcBef>
                <a:spcPts val="112"/>
              </a:spcBef>
              <a:buNone/>
            </a:pPr>
            <a:r>
              <a:rPr lang="en-US" sz="700" dirty="0">
                <a:solidFill>
                  <a:srgbClr val="22543D"/>
                </a:solidFill>
                <a:ea typeface="Arial" pitchFamily="34" charset="-122"/>
                <a:latin typeface="Arial" pitchFamily="34" charset="0"/>
                <a:cs typeface="Arial" pitchFamily="34" charset="-120"/>
              </a:rPr>
              <a:t>★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529325" y="1966119"/>
            <a:ext cx="2157412" cy="3857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zh-CN" altLang="en-US" sz="900" b="1" dirty="0">
                <a:solidFill>
                  <a:srgbClr val="F6AD55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减重提速</a:t>
            </a:r>
            <a:pPr algn="l" indent="0" marL="0">
              <a:lnSpc>
                <a:spcPts val="1530"/>
              </a:lnSpc>
              <a:buNone/>
            </a:pPr>
            <a:r>
              <a:rPr lang="zh-CN" altLang="en-US" sz="9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：主动改变打法，打四号位，适应现代篮球节奏。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43538" y="2481659"/>
            <a:ext cx="200025" cy="200025"/>
          </a:xfrm>
          <a:prstGeom prst="ellipse">
            <a:avLst/>
          </a:prstGeom>
          <a:solidFill>
            <a:srgbClr val="38A1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60"/>
              </a:lnSpc>
              <a:spcBef>
                <a:spcPts val="112"/>
              </a:spcBef>
              <a:buNone/>
            </a:pPr>
            <a:r>
              <a:rPr lang="en-US" sz="700" dirty="0">
                <a:solidFill>
                  <a:srgbClr val="22543D"/>
                </a:solidFill>
                <a:ea typeface="Arial" pitchFamily="34" charset="-122"/>
                <a:latin typeface="Arial" pitchFamily="34" charset="0"/>
                <a:cs typeface="Arial" pitchFamily="34" charset="-120"/>
              </a:rPr>
              <a:t>▲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529325" y="2468786"/>
            <a:ext cx="2157412" cy="3857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zh-CN" altLang="en-US" sz="900" b="1" dirty="0">
                <a:solidFill>
                  <a:srgbClr val="F6AD55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效率巅峰</a:t>
            </a:r>
            <a:pPr algn="l" indent="0" marL="0">
              <a:lnSpc>
                <a:spcPts val="1530"/>
              </a:lnSpc>
              <a:buNone/>
            </a:pPr>
            <a:r>
              <a:rPr lang="zh-CN" altLang="en-US" sz="9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：进攻效率与防守强度均达到职业生涯最高水平。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43538" y="2984326"/>
            <a:ext cx="200025" cy="200025"/>
          </a:xfrm>
          <a:prstGeom prst="ellipse">
            <a:avLst/>
          </a:prstGeom>
          <a:solidFill>
            <a:srgbClr val="38A1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60"/>
              </a:lnSpc>
              <a:spcBef>
                <a:spcPts val="112"/>
              </a:spcBef>
              <a:buNone/>
            </a:pPr>
            <a:r>
              <a:rPr lang="en-US" sz="700" dirty="0">
                <a:solidFill>
                  <a:srgbClr val="22543D"/>
                </a:solidFill>
                <a:ea typeface="Arial" pitchFamily="34" charset="-122"/>
                <a:latin typeface="Arial" pitchFamily="34" charset="0"/>
                <a:cs typeface="Arial" pitchFamily="34" charset="-120"/>
              </a:rPr>
              <a:t>◎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29325" y="2971453"/>
            <a:ext cx="2157412" cy="3857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zh-CN" altLang="en-US" sz="900" b="1" dirty="0">
                <a:solidFill>
                  <a:srgbClr val="F6AD55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防守大闸</a:t>
            </a:r>
            <a:pPr algn="l" indent="0" marL="0">
              <a:lnSpc>
                <a:spcPts val="1530"/>
              </a:lnSpc>
              <a:buNone/>
            </a:pPr>
            <a:r>
              <a:rPr lang="zh-CN" altLang="en-US" sz="9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：成为球队防守体系核心，多次入选最佳防守阵容。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43538" y="3486993"/>
            <a:ext cx="200025" cy="200025"/>
          </a:xfrm>
          <a:prstGeom prst="ellipse">
            <a:avLst/>
          </a:prstGeom>
          <a:solidFill>
            <a:srgbClr val="38A1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60"/>
              </a:lnSpc>
              <a:spcBef>
                <a:spcPts val="112"/>
              </a:spcBef>
              <a:buNone/>
            </a:pPr>
            <a:r>
              <a:rPr lang="en-US" sz="700" dirty="0">
                <a:solidFill>
                  <a:srgbClr val="22543D"/>
                </a:solidFill>
                <a:ea typeface="Arial" pitchFamily="34" charset="-122"/>
                <a:latin typeface="Arial" pitchFamily="34" charset="0"/>
                <a:cs typeface="Arial" pitchFamily="34" charset="-120"/>
              </a:rPr>
              <a:t>⇔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529325" y="3474120"/>
            <a:ext cx="2157412" cy="3857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zh-CN" altLang="en-US" sz="900" b="1" dirty="0">
                <a:solidFill>
                  <a:srgbClr val="F6AD55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公式开创</a:t>
            </a:r>
            <a:pPr algn="l" indent="0" marL="0">
              <a:lnSpc>
                <a:spcPts val="1530"/>
              </a:lnSpc>
              <a:buNone/>
            </a:pPr>
            <a:r>
              <a:rPr lang="zh-CN" altLang="en-US" sz="9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：奠定了“全能前锋+空间型四号位+全能后卫”的赢球基础。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08826" y="4925615"/>
            <a:ext cx="507206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dirty="0">
                <a:solidFill>
                  <a:srgbClr val="68D391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第 8 / 15 页</a:t>
            </a:r>
            <a:endParaRPr lang="en-US" sz="7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5751" y="2331033"/>
            <a:ext cx="5572125" cy="950119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2188" y="785812"/>
            <a:ext cx="2786062" cy="3857625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1150144" y="1244277"/>
            <a:ext cx="128587" cy="128587"/>
          </a:xfrm>
          <a:prstGeom prst="ellipse">
            <a:avLst/>
          </a:prstGeom>
          <a:solidFill>
            <a:srgbClr val="F6AD55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F6AD55">
                <a:alpha val="10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285750" y="1458912"/>
            <a:ext cx="1857375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37"/>
              </a:spcAft>
              <a:buNone/>
            </a:pPr>
            <a:r>
              <a:rPr lang="en-US" sz="1000" b="1" dirty="0">
                <a:solidFill>
                  <a:srgbClr val="F6AD55"/>
                </a:solidFill>
                <a:ea typeface="Arial" pitchFamily="34" charset="-122"/>
                <a:latin typeface="Arial" pitchFamily="34" charset="0"/>
                <a:cs typeface="Arial" pitchFamily="34" charset="-120"/>
              </a:rPr>
              <a:t>2010-2011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285750" y="1652116"/>
            <a:ext cx="1857375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角色转型开始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lnSpc>
                <a:spcPts val="1266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从全能得分手向全能终结点转型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3007519" y="1244277"/>
            <a:ext cx="128587" cy="128587"/>
          </a:xfrm>
          <a:prstGeom prst="ellipse">
            <a:avLst/>
          </a:prstGeom>
          <a:solidFill>
            <a:srgbClr val="F6AD55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F6AD55">
                <a:alpha val="100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2143125" y="1458912"/>
            <a:ext cx="1857375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37"/>
              </a:spcAft>
              <a:buNone/>
            </a:pPr>
            <a:r>
              <a:rPr lang="en-US" sz="1000" b="1" dirty="0">
                <a:solidFill>
                  <a:srgbClr val="F6AD55"/>
                </a:solidFill>
                <a:ea typeface="Arial" pitchFamily="34" charset="-122"/>
                <a:latin typeface="Arial" pitchFamily="34" charset="0"/>
                <a:cs typeface="Arial" pitchFamily="34" charset="-120"/>
              </a:rPr>
              <a:t>2012-2013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2143125" y="1652116"/>
            <a:ext cx="1857375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团队成功巅峰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lnSpc>
                <a:spcPts val="1266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四年四进总决赛，两连冠建立王朝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4864894" y="1244277"/>
            <a:ext cx="128587" cy="128587"/>
          </a:xfrm>
          <a:prstGeom prst="ellipse">
            <a:avLst/>
          </a:prstGeom>
          <a:solidFill>
            <a:srgbClr val="F6AD55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F6AD55">
                <a:alpha val="100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4000500" y="1458912"/>
            <a:ext cx="1857375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37"/>
              </a:spcAft>
              <a:buNone/>
            </a:pPr>
            <a:r>
              <a:rPr lang="en-US" sz="1000" b="1" dirty="0">
                <a:solidFill>
                  <a:srgbClr val="F6AD55"/>
                </a:solidFill>
                <a:ea typeface="Arial" pitchFamily="34" charset="-122"/>
                <a:latin typeface="Arial" pitchFamily="34" charset="0"/>
                <a:cs typeface="Arial" pitchFamily="34" charset="-120"/>
              </a:rPr>
              <a:t>2014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000500" y="1652116"/>
            <a:ext cx="1857375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心智完全成熟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lnSpc>
                <a:spcPts val="1266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宋体" pitchFamily="34" charset="-122"/>
                <a:latin typeface="Arial" pitchFamily="34" charset="0"/>
                <a:cs typeface="宋体" pitchFamily="34" charset="-120"/>
              </a:rPr>
              <a:t>领袖心态的终极蜕变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0FF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8125" y="-571500"/>
            <a:ext cx="1714500" cy="1714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4286250"/>
            <a:ext cx="1143000" cy="11430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5" y="714375"/>
            <a:ext cx="428625" cy="428625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-893"/>
            <a:ext cx="9143999" cy="528637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497433"/>
            <a:ext cx="9143999" cy="2852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341177" y="127695"/>
            <a:ext cx="4264818" cy="2714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骑士2.0时期：兑现承诺，上演史诗级逆转夺冠</a:t>
            </a:r>
            <a:endParaRPr lang="en-US" sz="1500" dirty="0"/>
          </a:p>
        </p:txBody>
      </p:sp>
      <p:sp>
        <p:nvSpPr>
          <p:cNvPr id="9" name="Text 2"/>
          <p:cNvSpPr/>
          <p:nvPr/>
        </p:nvSpPr>
        <p:spPr>
          <a:xfrm>
            <a:off x="7745090" y="177701"/>
            <a:ext cx="1057275" cy="17145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600" b="1" dirty="0">
                <a:solidFill>
                  <a:srgbClr val="FFFFFF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LEGACY · 核心章节</a:t>
            </a:r>
            <a:endParaRPr lang="en-US" sz="600" dirty="0"/>
          </a:p>
        </p:txBody>
      </p:sp>
      <p:sp>
        <p:nvSpPr>
          <p:cNvPr id="10" name="Shape 3"/>
          <p:cNvSpPr/>
          <p:nvPr/>
        </p:nvSpPr>
        <p:spPr>
          <a:xfrm>
            <a:off x="287065" y="697657"/>
            <a:ext cx="5343525" cy="18288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14287" dir="5400000">
              <a:srgbClr val="000000">
                <a:alpha val="6000"/>
              </a:srgbClr>
            </a:outerShdw>
          </a:effectLst>
        </p:spPr>
      </p:sp>
      <p:sp>
        <p:nvSpPr>
          <p:cNvPr id="11" name="Text 4"/>
          <p:cNvSpPr/>
          <p:nvPr/>
        </p:nvSpPr>
        <p:spPr>
          <a:xfrm>
            <a:off x="516248" y="875233"/>
            <a:ext cx="714375" cy="142875"/>
          </a:xfrm>
          <a:prstGeom prst="roundRect">
            <a:avLst>
              <a:gd name="adj" fmla="val 80000"/>
            </a:avLst>
          </a:prstGeom>
          <a:solidFill>
            <a:srgbClr val="D97706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62"/>
              </a:spcAft>
              <a:buNone/>
            </a:pPr>
            <a:r>
              <a:rPr lang="en-US" sz="600" b="1" dirty="0">
                <a:solidFill>
                  <a:srgbClr val="F6AD55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CASE STUDY</a:t>
            </a:r>
            <a:endParaRPr lang="en-US" sz="600" dirty="0"/>
          </a:p>
        </p:txBody>
      </p:sp>
      <p:sp>
        <p:nvSpPr>
          <p:cNvPr id="12" name="Text 5"/>
          <p:cNvSpPr/>
          <p:nvPr/>
        </p:nvSpPr>
        <p:spPr>
          <a:xfrm>
            <a:off x="517253" y="1090637"/>
            <a:ext cx="4914900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62"/>
              </a:spcAft>
              <a:buNone/>
            </a:pPr>
            <a:r>
              <a:rPr lang="zh-CN" altLang="en-US" sz="1200" b="1" dirty="0">
                <a:solidFill>
                  <a:srgbClr val="22543D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救赎与承诺：重返克利夫兰率队夺冠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517253" y="1368053"/>
            <a:ext cx="4914900" cy="4143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6"/>
              </a:lnSpc>
              <a:spcAft>
                <a:spcPts val="787"/>
              </a:spcAft>
              <a:buNone/>
            </a:pPr>
            <a:r>
              <a:rPr lang="zh-CN" altLang="en-US" sz="900" dirty="0">
                <a:solidFill>
                  <a:srgbClr val="2D3748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2014年夏天，詹姆斯选择回归，一封《I'm Coming Home》震动联盟。两年后，他在总决赛1-3落后的绝境中，面对73胜的金州勇士，完成了NBA历史上最伟大的逆转。</a:t>
            </a:r>
            <a:endParaRPr lang="en-US" sz="900" dirty="0"/>
          </a:p>
        </p:txBody>
      </p:sp>
      <p:sp>
        <p:nvSpPr>
          <p:cNvPr id="14" name="Shape 7"/>
          <p:cNvSpPr/>
          <p:nvPr/>
        </p:nvSpPr>
        <p:spPr>
          <a:xfrm>
            <a:off x="517253" y="1882254"/>
            <a:ext cx="4914900" cy="485775"/>
          </a:xfrm>
          <a:prstGeom prst="roundRect">
            <a:avLst>
              <a:gd name="adj" fmla="val 5536"/>
            </a:avLst>
          </a:prstGeom>
          <a:solidFill>
            <a:srgbClr val="D97706">
              <a:alpha val="7000"/>
            </a:srgbClr>
          </a:solidFill>
          <a:ln/>
        </p:spPr>
      </p:sp>
      <p:sp>
        <p:nvSpPr>
          <p:cNvPr id="15" name="Text 8"/>
          <p:cNvSpPr/>
          <p:nvPr/>
        </p:nvSpPr>
        <p:spPr>
          <a:xfrm>
            <a:off x="654856" y="1996554"/>
            <a:ext cx="985837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00" b="1" dirty="0">
                <a:solidFill>
                  <a:srgbClr val="F6AD55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1→3→4</a:t>
            </a:r>
            <a:endParaRPr lang="en-US" sz="2000" dirty="0"/>
          </a:p>
        </p:txBody>
      </p:sp>
      <p:sp>
        <p:nvSpPr>
          <p:cNvPr id="16" name="Text 9"/>
          <p:cNvSpPr/>
          <p:nvPr/>
        </p:nvSpPr>
        <p:spPr>
          <a:xfrm>
            <a:off x="1754436" y="1975123"/>
            <a:ext cx="1785937" cy="3000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zh-CN" altLang="en-US" sz="700" b="1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总决赛1-3落后绝境逆转73胜勇士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lnSpc>
                <a:spcPts val="1181"/>
              </a:lnSpc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为克利夫兰带来 </a:t>
            </a:r>
            <a:pPr algn="l" indent="0" marL="0">
              <a:lnSpc>
                <a:spcPts val="1181"/>
              </a:lnSpc>
              <a:buNone/>
            </a:pPr>
            <a:r>
              <a:rPr lang="zh-CN" altLang="en-US" sz="700" b="1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52年</a:t>
            </a:r>
            <a:pPr algn="l" indent="0" marL="0">
              <a:lnSpc>
                <a:spcPts val="1181"/>
              </a:lnSpc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 首个职业体育冠军</a:t>
            </a:r>
            <a:endParaRPr lang="en-US" sz="700" dirty="0"/>
          </a:p>
        </p:txBody>
      </p:sp>
      <p:sp>
        <p:nvSpPr>
          <p:cNvPr id="17" name="Shape 10"/>
          <p:cNvSpPr/>
          <p:nvPr/>
        </p:nvSpPr>
        <p:spPr>
          <a:xfrm>
            <a:off x="286433" y="2626444"/>
            <a:ext cx="2607469" cy="2357437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14287" dir="5400000">
              <a:srgbClr val="000000">
                <a:alpha val="6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441263" y="2771279"/>
            <a:ext cx="371475" cy="135731"/>
          </a:xfrm>
          <a:prstGeom prst="roundRect">
            <a:avLst>
              <a:gd name="adj" fmla="val 84211"/>
            </a:avLst>
          </a:prstGeom>
          <a:solidFill>
            <a:srgbClr val="166534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500" b="1" dirty="0">
                <a:solidFill>
                  <a:srgbClr val="22543D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DATA</a:t>
            </a:r>
            <a:endParaRPr lang="en-US" sz="500" dirty="0"/>
          </a:p>
        </p:txBody>
      </p:sp>
      <p:sp>
        <p:nvSpPr>
          <p:cNvPr id="19" name="Text 12"/>
          <p:cNvSpPr/>
          <p:nvPr/>
        </p:nvSpPr>
        <p:spPr>
          <a:xfrm>
            <a:off x="443595" y="2963652"/>
            <a:ext cx="2293144" cy="1928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spcAft>
                <a:spcPts val="562"/>
              </a:spcAft>
              <a:buNone/>
            </a:pPr>
            <a:r>
              <a:rPr lang="zh-CN" altLang="en-US" sz="1000" b="1" dirty="0">
                <a:solidFill>
                  <a:srgbClr val="22543D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总决赛场均三双级别的史诗表现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41946" y="3761792"/>
            <a:ext cx="728662" cy="421481"/>
          </a:xfrm>
          <a:prstGeom prst="roundRect">
            <a:avLst>
              <a:gd name="adj" fmla="val 7354"/>
            </a:avLst>
          </a:prstGeom>
          <a:solidFill>
            <a:srgbClr val="22C55E">
              <a:alpha val="5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470521" y="3820939"/>
            <a:ext cx="671512" cy="1857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200" b="1" dirty="0">
                <a:solidFill>
                  <a:srgbClr val="22543D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29.7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470521" y="4023916"/>
            <a:ext cx="671512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"/>
              </a:spcBef>
              <a:buNone/>
            </a:pPr>
            <a:r>
              <a:rPr lang="zh-CN" altLang="en-US" sz="600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得分</a:t>
            </a:r>
            <a:endParaRPr lang="en-US" sz="600" dirty="0"/>
          </a:p>
        </p:txBody>
      </p:sp>
      <p:sp>
        <p:nvSpPr>
          <p:cNvPr id="23" name="Shape 16"/>
          <p:cNvSpPr/>
          <p:nvPr/>
        </p:nvSpPr>
        <p:spPr>
          <a:xfrm>
            <a:off x="1225774" y="3761792"/>
            <a:ext cx="728662" cy="421481"/>
          </a:xfrm>
          <a:prstGeom prst="roundRect">
            <a:avLst>
              <a:gd name="adj" fmla="val 7354"/>
            </a:avLst>
          </a:prstGeom>
          <a:solidFill>
            <a:srgbClr val="22C55E">
              <a:alpha val="5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1254349" y="3820939"/>
            <a:ext cx="671512" cy="1857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200" b="1" dirty="0">
                <a:solidFill>
                  <a:srgbClr val="22543D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11.3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254349" y="4023916"/>
            <a:ext cx="671512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"/>
              </a:spcBef>
              <a:buNone/>
            </a:pPr>
            <a:r>
              <a:rPr lang="zh-CN" altLang="en-US" sz="600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篮板</a:t>
            </a:r>
            <a:endParaRPr lang="en-US" sz="600" dirty="0"/>
          </a:p>
        </p:txBody>
      </p:sp>
      <p:sp>
        <p:nvSpPr>
          <p:cNvPr id="26" name="Shape 19"/>
          <p:cNvSpPr/>
          <p:nvPr/>
        </p:nvSpPr>
        <p:spPr>
          <a:xfrm>
            <a:off x="2009664" y="3761792"/>
            <a:ext cx="728662" cy="421481"/>
          </a:xfrm>
          <a:prstGeom prst="roundRect">
            <a:avLst>
              <a:gd name="adj" fmla="val 7354"/>
            </a:avLst>
          </a:prstGeom>
          <a:solidFill>
            <a:srgbClr val="22C55E">
              <a:alpha val="5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2038239" y="3820939"/>
            <a:ext cx="671512" cy="1857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200" b="1" dirty="0">
                <a:solidFill>
                  <a:srgbClr val="22543D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8.9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2038239" y="4023916"/>
            <a:ext cx="671512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"/>
              </a:spcBef>
              <a:buNone/>
            </a:pPr>
            <a:r>
              <a:rPr lang="zh-CN" altLang="en-US" sz="600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助攻</a:t>
            </a:r>
            <a:endParaRPr lang="en-US" sz="600" dirty="0"/>
          </a:p>
        </p:txBody>
      </p:sp>
      <p:sp>
        <p:nvSpPr>
          <p:cNvPr id="29" name="Shape 22"/>
          <p:cNvSpPr/>
          <p:nvPr/>
        </p:nvSpPr>
        <p:spPr>
          <a:xfrm>
            <a:off x="441946" y="4238910"/>
            <a:ext cx="728662" cy="421481"/>
          </a:xfrm>
          <a:prstGeom prst="roundRect">
            <a:avLst>
              <a:gd name="adj" fmla="val 7354"/>
            </a:avLst>
          </a:prstGeom>
          <a:solidFill>
            <a:srgbClr val="22C55E">
              <a:alpha val="500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470521" y="4298057"/>
            <a:ext cx="671512" cy="1857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200" b="1" dirty="0">
                <a:solidFill>
                  <a:srgbClr val="22543D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2.6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70521" y="4501033"/>
            <a:ext cx="671512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"/>
              </a:spcBef>
              <a:buNone/>
            </a:pPr>
            <a:r>
              <a:rPr lang="zh-CN" altLang="en-US" sz="600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抢断</a:t>
            </a:r>
            <a:endParaRPr lang="en-US" sz="600" dirty="0"/>
          </a:p>
        </p:txBody>
      </p:sp>
      <p:sp>
        <p:nvSpPr>
          <p:cNvPr id="32" name="Shape 25"/>
          <p:cNvSpPr/>
          <p:nvPr/>
        </p:nvSpPr>
        <p:spPr>
          <a:xfrm>
            <a:off x="1225774" y="4238910"/>
            <a:ext cx="728662" cy="421481"/>
          </a:xfrm>
          <a:prstGeom prst="roundRect">
            <a:avLst>
              <a:gd name="adj" fmla="val 7354"/>
            </a:avLst>
          </a:prstGeom>
          <a:solidFill>
            <a:srgbClr val="22C55E">
              <a:alpha val="5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1254349" y="4298057"/>
            <a:ext cx="671512" cy="1857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200" b="1" dirty="0">
                <a:solidFill>
                  <a:srgbClr val="22543D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2.3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254349" y="4501033"/>
            <a:ext cx="671512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"/>
              </a:spcBef>
              <a:buNone/>
            </a:pPr>
            <a:r>
              <a:rPr lang="zh-CN" altLang="en-US" sz="600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盖帽</a:t>
            </a:r>
            <a:endParaRPr lang="en-US" sz="600" dirty="0"/>
          </a:p>
        </p:txBody>
      </p:sp>
      <p:sp>
        <p:nvSpPr>
          <p:cNvPr id="35" name="Shape 28"/>
          <p:cNvSpPr/>
          <p:nvPr/>
        </p:nvSpPr>
        <p:spPr>
          <a:xfrm>
            <a:off x="2009664" y="4238910"/>
            <a:ext cx="728662" cy="421481"/>
          </a:xfrm>
          <a:prstGeom prst="roundRect">
            <a:avLst>
              <a:gd name="adj" fmla="val 7354"/>
            </a:avLst>
          </a:prstGeom>
          <a:solidFill>
            <a:srgbClr val="22C55E">
              <a:alpha val="500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2038239" y="4297387"/>
            <a:ext cx="671512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F6AD55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5/5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2038239" y="4449688"/>
            <a:ext cx="671512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"/>
              </a:spcBef>
              <a:buNone/>
            </a:pPr>
            <a:r>
              <a:rPr lang="zh-CN" altLang="en-US" sz="600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两队第一</a:t>
            </a:r>
            <a:endParaRPr lang="en-US" sz="600" dirty="0"/>
          </a:p>
        </p:txBody>
      </p:sp>
      <p:sp>
        <p:nvSpPr>
          <p:cNvPr id="38" name="Text 31"/>
          <p:cNvSpPr/>
          <p:nvPr/>
        </p:nvSpPr>
        <p:spPr>
          <a:xfrm>
            <a:off x="443595" y="4718509"/>
            <a:ext cx="2293144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spcBef>
                <a:spcPts val="450"/>
              </a:spcBef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五项主要数据均为两队最高，历史唯一</a:t>
            </a:r>
            <a:endParaRPr lang="en-US" sz="700" dirty="0"/>
          </a:p>
        </p:txBody>
      </p:sp>
      <p:sp>
        <p:nvSpPr>
          <p:cNvPr id="39" name="Shape 32"/>
          <p:cNvSpPr/>
          <p:nvPr/>
        </p:nvSpPr>
        <p:spPr>
          <a:xfrm>
            <a:off x="3023754" y="2626444"/>
            <a:ext cx="2607469" cy="2357437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14287" dir="5400000">
              <a:srgbClr val="000000">
                <a:alpha val="6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3178585" y="2771279"/>
            <a:ext cx="371475" cy="135731"/>
          </a:xfrm>
          <a:prstGeom prst="roundRect">
            <a:avLst>
              <a:gd name="adj" fmla="val 84211"/>
            </a:avLst>
          </a:prstGeom>
          <a:solidFill>
            <a:srgbClr val="D97706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500" b="1" dirty="0">
                <a:solidFill>
                  <a:srgbClr val="F6AD55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DATA</a:t>
            </a:r>
            <a:endParaRPr lang="en-US" sz="500" dirty="0"/>
          </a:p>
        </p:txBody>
      </p:sp>
      <p:sp>
        <p:nvSpPr>
          <p:cNvPr id="41" name="Text 34"/>
          <p:cNvSpPr/>
          <p:nvPr/>
        </p:nvSpPr>
        <p:spPr>
          <a:xfrm>
            <a:off x="3180916" y="2963652"/>
            <a:ext cx="2293144" cy="1928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spcAft>
                <a:spcPts val="562"/>
              </a:spcAft>
              <a:buNone/>
            </a:pPr>
            <a:r>
              <a:rPr lang="zh-CN" altLang="en-US" sz="1000" b="1" dirty="0">
                <a:solidFill>
                  <a:srgbClr val="22543D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进攻大师：助攻能力登峰造极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3180916" y="3601008"/>
            <a:ext cx="2293144" cy="3000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62"/>
              </a:lnSpc>
              <a:buNone/>
            </a:pPr>
            <a:r>
              <a:rPr lang="en-US" sz="2300" b="1" dirty="0">
                <a:solidFill>
                  <a:srgbClr val="F6AD55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10.2</a:t>
            </a:r>
            <a:endParaRPr lang="en-US" sz="2300" dirty="0"/>
          </a:p>
        </p:txBody>
      </p:sp>
      <p:sp>
        <p:nvSpPr>
          <p:cNvPr id="43" name="Text 36"/>
          <p:cNvSpPr/>
          <p:nvPr/>
        </p:nvSpPr>
        <p:spPr>
          <a:xfrm>
            <a:off x="3180916" y="3928368"/>
            <a:ext cx="2293144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2019-20赛季 场均助攻</a:t>
            </a:r>
            <a:endParaRPr lang="en-US" sz="700" dirty="0"/>
          </a:p>
        </p:txBody>
      </p:sp>
      <p:sp>
        <p:nvSpPr>
          <p:cNvPr id="44" name="Text 37"/>
          <p:cNvSpPr/>
          <p:nvPr/>
        </p:nvSpPr>
        <p:spPr>
          <a:xfrm>
            <a:off x="3995242" y="4128368"/>
            <a:ext cx="664369" cy="178594"/>
          </a:xfrm>
          <a:prstGeom prst="roundRect">
            <a:avLst>
              <a:gd name="adj" fmla="val 64000"/>
            </a:avLst>
          </a:prstGeom>
          <a:solidFill>
            <a:srgbClr val="D97706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700" b="1" dirty="0">
                <a:solidFill>
                  <a:srgbClr val="F6AD55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荣膺助攻王</a:t>
            </a:r>
            <a:endParaRPr lang="en-US" sz="700" dirty="0"/>
          </a:p>
        </p:txBody>
      </p:sp>
      <p:sp>
        <p:nvSpPr>
          <p:cNvPr id="45" name="Text 38"/>
          <p:cNvSpPr/>
          <p:nvPr/>
        </p:nvSpPr>
        <p:spPr>
          <a:xfrm>
            <a:off x="3180916" y="4718509"/>
            <a:ext cx="2293144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spcBef>
                <a:spcPts val="450"/>
              </a:spcBef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组织进攻能力达到个人生涯巅峰</a:t>
            </a:r>
            <a:endParaRPr lang="en-US" sz="700" dirty="0"/>
          </a:p>
        </p:txBody>
      </p:sp>
      <p:sp>
        <p:nvSpPr>
          <p:cNvPr id="46" name="Shape 39"/>
          <p:cNvSpPr/>
          <p:nvPr/>
        </p:nvSpPr>
        <p:spPr>
          <a:xfrm>
            <a:off x="5802015" y="696602"/>
            <a:ext cx="3057525" cy="1971675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14287" dir="5400000">
              <a:srgbClr val="000000">
                <a:alpha val="6000"/>
              </a:srgbClr>
            </a:outerShdw>
          </a:effectLst>
        </p:spPr>
      </p:sp>
      <p:sp>
        <p:nvSpPr>
          <p:cNvPr id="47" name="Text 40"/>
          <p:cNvSpPr/>
          <p:nvPr/>
        </p:nvSpPr>
        <p:spPr>
          <a:xfrm>
            <a:off x="5959946" y="876449"/>
            <a:ext cx="571500" cy="135731"/>
          </a:xfrm>
          <a:prstGeom prst="roundRect">
            <a:avLst>
              <a:gd name="adj" fmla="val 84211"/>
            </a:avLst>
          </a:prstGeom>
          <a:solidFill>
            <a:srgbClr val="D97706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500" b="1" dirty="0">
                <a:solidFill>
                  <a:srgbClr val="F6AD55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DATA BAR</a:t>
            </a:r>
            <a:endParaRPr lang="en-US" sz="500" dirty="0"/>
          </a:p>
        </p:txBody>
      </p:sp>
      <p:sp>
        <p:nvSpPr>
          <p:cNvPr id="48" name="Text 41"/>
          <p:cNvSpPr/>
          <p:nvPr/>
        </p:nvSpPr>
        <p:spPr>
          <a:xfrm>
            <a:off x="5959177" y="1070273"/>
            <a:ext cx="274320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562"/>
              </a:spcAft>
              <a:buNone/>
            </a:pPr>
            <a:r>
              <a:rPr lang="zh-CN" altLang="en-US" sz="1100" b="1" dirty="0">
                <a:solidFill>
                  <a:srgbClr val="22543D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2016总决赛数据雷达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5960442" y="1352401"/>
            <a:ext cx="357187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700" b="1" dirty="0">
                <a:solidFill>
                  <a:srgbClr val="2D3748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得分</a:t>
            </a:r>
            <a:endParaRPr lang="en-US" sz="700" dirty="0"/>
          </a:p>
        </p:txBody>
      </p:sp>
      <p:sp>
        <p:nvSpPr>
          <p:cNvPr id="50" name="Shape 43"/>
          <p:cNvSpPr/>
          <p:nvPr/>
        </p:nvSpPr>
        <p:spPr>
          <a:xfrm>
            <a:off x="6387840" y="1341686"/>
            <a:ext cx="1985962" cy="142875"/>
          </a:xfrm>
          <a:prstGeom prst="roundRect">
            <a:avLst>
              <a:gd name="adj" fmla="val 32000"/>
            </a:avLst>
          </a:prstGeom>
          <a:solidFill>
            <a:srgbClr val="E2E8F0">
              <a:alpha val="60000"/>
            </a:srgbClr>
          </a:solidFill>
          <a:ln/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89092" y="1341686"/>
            <a:ext cx="1685925" cy="142875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8443974" y="1348829"/>
            <a:ext cx="257175" cy="128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543D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29.7</a:t>
            </a:r>
            <a:endParaRPr lang="en-US" sz="700" dirty="0"/>
          </a:p>
        </p:txBody>
      </p:sp>
      <p:sp>
        <p:nvSpPr>
          <p:cNvPr id="53" name="Text 45"/>
          <p:cNvSpPr/>
          <p:nvPr/>
        </p:nvSpPr>
        <p:spPr>
          <a:xfrm>
            <a:off x="5960442" y="1559520"/>
            <a:ext cx="357187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700" b="1" dirty="0">
                <a:solidFill>
                  <a:srgbClr val="2D3748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篮板</a:t>
            </a:r>
            <a:endParaRPr lang="en-US" sz="700" dirty="0"/>
          </a:p>
        </p:txBody>
      </p:sp>
      <p:sp>
        <p:nvSpPr>
          <p:cNvPr id="54" name="Shape 46"/>
          <p:cNvSpPr/>
          <p:nvPr/>
        </p:nvSpPr>
        <p:spPr>
          <a:xfrm>
            <a:off x="6387840" y="1548805"/>
            <a:ext cx="1985962" cy="142875"/>
          </a:xfrm>
          <a:prstGeom prst="roundRect">
            <a:avLst>
              <a:gd name="adj" fmla="val 32000"/>
            </a:avLst>
          </a:prstGeom>
          <a:solidFill>
            <a:srgbClr val="E2E8F0">
              <a:alpha val="60000"/>
            </a:srgbClr>
          </a:solidFill>
          <a:ln/>
        </p:spPr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89067" y="1548805"/>
            <a:ext cx="1864481" cy="142875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8443974" y="1555948"/>
            <a:ext cx="257175" cy="128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543D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11.3</a:t>
            </a:r>
            <a:endParaRPr lang="en-US" sz="700" dirty="0"/>
          </a:p>
        </p:txBody>
      </p:sp>
      <p:sp>
        <p:nvSpPr>
          <p:cNvPr id="57" name="Text 48"/>
          <p:cNvSpPr/>
          <p:nvPr/>
        </p:nvSpPr>
        <p:spPr>
          <a:xfrm>
            <a:off x="5960442" y="1766639"/>
            <a:ext cx="357187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700" b="1" dirty="0">
                <a:solidFill>
                  <a:srgbClr val="2D3748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助攻</a:t>
            </a:r>
            <a:endParaRPr lang="en-US" sz="700" dirty="0"/>
          </a:p>
        </p:txBody>
      </p:sp>
      <p:sp>
        <p:nvSpPr>
          <p:cNvPr id="58" name="Shape 49"/>
          <p:cNvSpPr/>
          <p:nvPr/>
        </p:nvSpPr>
        <p:spPr>
          <a:xfrm>
            <a:off x="6387840" y="1755924"/>
            <a:ext cx="1985962" cy="142875"/>
          </a:xfrm>
          <a:prstGeom prst="roundRect">
            <a:avLst>
              <a:gd name="adj" fmla="val 32000"/>
            </a:avLst>
          </a:prstGeom>
          <a:solidFill>
            <a:srgbClr val="E2E8F0">
              <a:alpha val="60000"/>
            </a:srgbClr>
          </a:solidFill>
          <a:ln/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90680" y="1755924"/>
            <a:ext cx="1464469" cy="142875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8443974" y="1763067"/>
            <a:ext cx="257175" cy="128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543D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8.9</a:t>
            </a:r>
            <a:endParaRPr lang="en-US" sz="700" dirty="0"/>
          </a:p>
        </p:txBody>
      </p:sp>
      <p:sp>
        <p:nvSpPr>
          <p:cNvPr id="61" name="Text 51"/>
          <p:cNvSpPr/>
          <p:nvPr/>
        </p:nvSpPr>
        <p:spPr>
          <a:xfrm>
            <a:off x="5960442" y="1973759"/>
            <a:ext cx="357187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700" b="1" dirty="0">
                <a:solidFill>
                  <a:srgbClr val="2D3748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抢断</a:t>
            </a:r>
            <a:endParaRPr lang="en-US" sz="700" dirty="0"/>
          </a:p>
        </p:txBody>
      </p:sp>
      <p:sp>
        <p:nvSpPr>
          <p:cNvPr id="62" name="Shape 52"/>
          <p:cNvSpPr/>
          <p:nvPr/>
        </p:nvSpPr>
        <p:spPr>
          <a:xfrm>
            <a:off x="6387840" y="1963043"/>
            <a:ext cx="1985962" cy="142875"/>
          </a:xfrm>
          <a:prstGeom prst="roundRect">
            <a:avLst>
              <a:gd name="adj" fmla="val 32000"/>
            </a:avLst>
          </a:prstGeom>
          <a:solidFill>
            <a:srgbClr val="E2E8F0">
              <a:alpha val="60000"/>
            </a:srgbClr>
          </a:solidFill>
          <a:ln/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90407" y="1963043"/>
            <a:ext cx="1028700" cy="142875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8443974" y="1970187"/>
            <a:ext cx="257175" cy="128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543D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2.6</a:t>
            </a:r>
            <a:endParaRPr lang="en-US" sz="700" dirty="0"/>
          </a:p>
        </p:txBody>
      </p:sp>
      <p:sp>
        <p:nvSpPr>
          <p:cNvPr id="65" name="Text 54"/>
          <p:cNvSpPr/>
          <p:nvPr/>
        </p:nvSpPr>
        <p:spPr>
          <a:xfrm>
            <a:off x="5960442" y="2180878"/>
            <a:ext cx="357187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700" b="1" dirty="0">
                <a:solidFill>
                  <a:srgbClr val="2D3748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盖帽</a:t>
            </a:r>
            <a:endParaRPr lang="en-US" sz="700" dirty="0"/>
          </a:p>
        </p:txBody>
      </p:sp>
      <p:sp>
        <p:nvSpPr>
          <p:cNvPr id="66" name="Shape 55"/>
          <p:cNvSpPr/>
          <p:nvPr/>
        </p:nvSpPr>
        <p:spPr>
          <a:xfrm>
            <a:off x="6387840" y="2170162"/>
            <a:ext cx="1985962" cy="142875"/>
          </a:xfrm>
          <a:prstGeom prst="roundRect">
            <a:avLst>
              <a:gd name="adj" fmla="val 32000"/>
            </a:avLst>
          </a:prstGeom>
          <a:solidFill>
            <a:srgbClr val="E2E8F0">
              <a:alpha val="60000"/>
            </a:srgbClr>
          </a:solidFill>
          <a:ln/>
        </p:spPr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89067" y="2170162"/>
            <a:ext cx="913358" cy="142875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8443974" y="2177306"/>
            <a:ext cx="257175" cy="128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543D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2.3</a:t>
            </a:r>
            <a:endParaRPr lang="en-US" sz="700" dirty="0"/>
          </a:p>
        </p:txBody>
      </p:sp>
      <p:sp>
        <p:nvSpPr>
          <p:cNvPr id="69" name="Text 57"/>
          <p:cNvSpPr/>
          <p:nvPr/>
        </p:nvSpPr>
        <p:spPr>
          <a:xfrm>
            <a:off x="5959177" y="2386248"/>
            <a:ext cx="274320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spcBef>
                <a:spcPts val="562"/>
              </a:spcBef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▲ 五项数据均列两队第一，攻防两端统治力的完美诠释</a:t>
            </a:r>
            <a:endParaRPr lang="en-US" sz="700" dirty="0"/>
          </a:p>
        </p:txBody>
      </p:sp>
      <p:pic>
        <p:nvPicPr>
          <p:cNvPr id="70" name="Image 10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02015" y="2767335"/>
            <a:ext cx="3057525" cy="1285875"/>
          </a:xfrm>
          <a:prstGeom prst="rect">
            <a:avLst/>
          </a:prstGeom>
        </p:spPr>
      </p:pic>
      <p:sp>
        <p:nvSpPr>
          <p:cNvPr id="71" name="Text 58"/>
          <p:cNvSpPr/>
          <p:nvPr/>
        </p:nvSpPr>
        <p:spPr>
          <a:xfrm>
            <a:off x="5969893" y="2917391"/>
            <a:ext cx="2721769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37"/>
              </a:spcAft>
              <a:buNone/>
            </a:pPr>
            <a:r>
              <a:rPr lang="en-US" sz="1700" dirty="0">
                <a:solidFill>
                  <a:srgbClr val="F6AD55">
                    <a:alpha val="30000"/>
                  </a:srgbClr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❝</a:t>
            </a:r>
            <a:endParaRPr lang="en-US" sz="1700" dirty="0"/>
          </a:p>
        </p:txBody>
      </p:sp>
      <p:sp>
        <p:nvSpPr>
          <p:cNvPr id="72" name="Text 59"/>
          <p:cNvSpPr/>
          <p:nvPr/>
        </p:nvSpPr>
        <p:spPr>
          <a:xfrm>
            <a:off x="5969893" y="3190404"/>
            <a:ext cx="2721769" cy="542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zh-CN" altLang="en-US" sz="800" i="1" dirty="0">
                <a:solidFill>
                  <a:srgbClr val="2D3748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Cleveland! This is for you!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lnSpc>
                <a:spcPts val="1434"/>
              </a:lnSpc>
              <a:buNone/>
            </a:pPr>
            <a:r>
              <a:rPr lang="zh-CN" altLang="en-US" sz="800" i="1" dirty="0">
                <a:solidFill>
                  <a:srgbClr val="2D3748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克利夫兰，这座城市的五十二年等待，终在此刻兑现。</a:t>
            </a:r>
            <a:endParaRPr lang="en-US" sz="800" dirty="0"/>
          </a:p>
        </p:txBody>
      </p:sp>
      <p:sp>
        <p:nvSpPr>
          <p:cNvPr id="73" name="Text 60"/>
          <p:cNvSpPr/>
          <p:nvPr/>
        </p:nvSpPr>
        <p:spPr>
          <a:xfrm>
            <a:off x="5969893" y="3790429"/>
            <a:ext cx="27217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zh-CN" altLang="en-US" sz="600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— 2016年夺冠时刻</a:t>
            </a:r>
            <a:endParaRPr lang="en-US" sz="600" dirty="0"/>
          </a:p>
        </p:txBody>
      </p:sp>
      <p:pic>
        <p:nvPicPr>
          <p:cNvPr id="74" name="Image 11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802015" y="4155194"/>
            <a:ext cx="3057525" cy="1243012"/>
          </a:xfrm>
          <a:prstGeom prst="rect">
            <a:avLst/>
          </a:prstGeom>
        </p:spPr>
      </p:pic>
      <p:sp>
        <p:nvSpPr>
          <p:cNvPr id="75" name="Text 61"/>
          <p:cNvSpPr/>
          <p:nvPr/>
        </p:nvSpPr>
        <p:spPr>
          <a:xfrm>
            <a:off x="5985744" y="4316239"/>
            <a:ext cx="464344" cy="135731"/>
          </a:xfrm>
          <a:prstGeom prst="roundRect">
            <a:avLst>
              <a:gd name="adj" fmla="val 84211"/>
            </a:avLst>
          </a:prstGeom>
          <a:solidFill>
            <a:srgbClr val="22C55E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500" b="1" dirty="0">
                <a:solidFill>
                  <a:srgbClr val="F6AD55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LEGACY</a:t>
            </a:r>
            <a:endParaRPr lang="en-US" sz="500" dirty="0"/>
          </a:p>
        </p:txBody>
      </p:sp>
      <p:sp>
        <p:nvSpPr>
          <p:cNvPr id="76" name="Text 62"/>
          <p:cNvSpPr/>
          <p:nvPr/>
        </p:nvSpPr>
        <p:spPr>
          <a:xfrm>
            <a:off x="5985372" y="4510794"/>
            <a:ext cx="2714625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7"/>
              </a:lnSpc>
              <a:spcAft>
                <a:spcPts val="562"/>
              </a:spcAft>
              <a:buNone/>
            </a:pPr>
            <a:r>
              <a:rPr lang="zh-CN" altLang="en-US" sz="1000" b="1" dirty="0">
                <a:solidFill>
                  <a:srgbClr val="22543D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定义生涯的三重叙事</a:t>
            </a:r>
            <a:endParaRPr lang="en-US" sz="1000" dirty="0"/>
          </a:p>
        </p:txBody>
      </p:sp>
      <p:sp>
        <p:nvSpPr>
          <p:cNvPr id="77" name="Shape 63"/>
          <p:cNvSpPr/>
          <p:nvPr/>
        </p:nvSpPr>
        <p:spPr>
          <a:xfrm>
            <a:off x="5984218" y="4803514"/>
            <a:ext cx="42862" cy="42862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78" name="Text 64"/>
          <p:cNvSpPr/>
          <p:nvPr/>
        </p:nvSpPr>
        <p:spPr>
          <a:xfrm>
            <a:off x="6084094" y="4760714"/>
            <a:ext cx="1000125" cy="128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dirty="0">
                <a:solidFill>
                  <a:srgbClr val="2D3748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情感巅峰：承诺与救赎</a:t>
            </a:r>
            <a:endParaRPr lang="en-US" sz="700" dirty="0"/>
          </a:p>
        </p:txBody>
      </p:sp>
      <p:sp>
        <p:nvSpPr>
          <p:cNvPr id="79" name="Shape 65"/>
          <p:cNvSpPr/>
          <p:nvPr/>
        </p:nvSpPr>
        <p:spPr>
          <a:xfrm>
            <a:off x="5984218" y="4987565"/>
            <a:ext cx="42862" cy="42862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80" name="Text 66"/>
          <p:cNvSpPr/>
          <p:nvPr/>
        </p:nvSpPr>
        <p:spPr>
          <a:xfrm>
            <a:off x="6084094" y="4944765"/>
            <a:ext cx="1000125" cy="128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dirty="0">
                <a:solidFill>
                  <a:srgbClr val="2D3748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竞技巅峰：数据统治力</a:t>
            </a:r>
            <a:endParaRPr lang="en-US" sz="700" dirty="0"/>
          </a:p>
        </p:txBody>
      </p:sp>
      <p:sp>
        <p:nvSpPr>
          <p:cNvPr id="81" name="Shape 67"/>
          <p:cNvSpPr/>
          <p:nvPr/>
        </p:nvSpPr>
        <p:spPr>
          <a:xfrm>
            <a:off x="5984218" y="5171616"/>
            <a:ext cx="42862" cy="42862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82" name="Text 68"/>
          <p:cNvSpPr/>
          <p:nvPr/>
        </p:nvSpPr>
        <p:spPr>
          <a:xfrm>
            <a:off x="6084131" y="5128816"/>
            <a:ext cx="1100137" cy="128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dirty="0">
                <a:solidFill>
                  <a:srgbClr val="2D3748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领袖巅峰：组织能力登顶</a:t>
            </a:r>
            <a:endParaRPr lang="en-US" sz="700" dirty="0"/>
          </a:p>
        </p:txBody>
      </p:sp>
      <p:pic>
        <p:nvPicPr>
          <p:cNvPr id="83" name="Image 12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7065" y="697657"/>
            <a:ext cx="5343525" cy="1828800"/>
          </a:xfrm>
          <a:prstGeom prst="rect">
            <a:avLst/>
          </a:prstGeom>
        </p:spPr>
      </p:pic>
      <p:sp>
        <p:nvSpPr>
          <p:cNvPr id="84" name="Shape 69"/>
          <p:cNvSpPr/>
          <p:nvPr/>
        </p:nvSpPr>
        <p:spPr>
          <a:xfrm>
            <a:off x="517253" y="1882254"/>
            <a:ext cx="4914900" cy="485775"/>
          </a:xfrm>
          <a:prstGeom prst="roundRect">
            <a:avLst>
              <a:gd name="adj" fmla="val 5536"/>
            </a:avLst>
          </a:prstGeom>
          <a:ln w="7937">
            <a:solidFill>
              <a:srgbClr val="D97706">
                <a:alpha val="30000"/>
              </a:srgbClr>
            </a:solidFill>
            <a:prstDash val="dash"/>
          </a:ln>
        </p:spPr>
      </p:sp>
      <p:pic>
        <p:nvPicPr>
          <p:cNvPr id="85" name="Image 13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86433" y="2626444"/>
            <a:ext cx="2607469" cy="2357437"/>
          </a:xfrm>
          <a:prstGeom prst="rect">
            <a:avLst/>
          </a:prstGeom>
        </p:spPr>
      </p:pic>
      <p:pic>
        <p:nvPicPr>
          <p:cNvPr id="86" name="Image 14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023754" y="2626444"/>
            <a:ext cx="2607469" cy="2357437"/>
          </a:xfrm>
          <a:prstGeom prst="rect">
            <a:avLst/>
          </a:prstGeom>
        </p:spPr>
      </p:pic>
      <p:pic>
        <p:nvPicPr>
          <p:cNvPr id="87" name="Image 15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802015" y="696602"/>
            <a:ext cx="3057525" cy="1971675"/>
          </a:xfrm>
          <a:prstGeom prst="rect">
            <a:avLst/>
          </a:prstGeom>
        </p:spPr>
      </p:pic>
      <p:sp>
        <p:nvSpPr>
          <p:cNvPr id="88" name="Text 70"/>
          <p:cNvSpPr/>
          <p:nvPr/>
        </p:nvSpPr>
        <p:spPr>
          <a:xfrm>
            <a:off x="0" y="4857750"/>
            <a:ext cx="9143999" cy="28575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600" i="1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演讲备注：这是他生涯情感与竞技的双重巅峰，是定义其 'legacy' 的核心事件。</a:t>
            </a:r>
            <a:pPr algn="l" indent="0" marL="0"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 </a:t>
            </a:r>
            <a:pPr algn="l" indent="0" marL="0">
              <a:buNone/>
            </a:pPr>
            <a:r>
              <a:rPr lang="zh-CN" altLang="en-US" sz="700" b="1" dirty="0">
                <a:solidFill>
                  <a:srgbClr val="68D391"/>
                </a:solidFill>
                <a:ea typeface="微软雅黑" pitchFamily="34" charset="-122"/>
                <a:latin typeface="Arial" pitchFamily="34" charset="0"/>
                <a:cs typeface="微软雅黑" pitchFamily="34" charset="-120"/>
              </a:rPr>
              <a:t>第 9 / 15 页</a:t>
            </a:r>
            <a:endParaRPr lang="en-US" sz="600" dirty="0"/>
          </a:p>
        </p:txBody>
      </p:sp>
      <p:pic>
        <p:nvPicPr>
          <p:cNvPr id="89" name="Image 16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0" y="4857750"/>
            <a:ext cx="9143999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" name="Shape 2"/>
          <p:cNvSpPr/>
          <p:nvPr/>
        </p:nvSpPr>
        <p:spPr>
          <a:xfrm>
            <a:off x="7000875" y="3000375"/>
            <a:ext cx="1785937" cy="1785937"/>
          </a:xfrm>
          <a:prstGeom prst="ellipse">
            <a:avLst/>
          </a:prstGeom>
          <a:solidFill>
            <a:srgbClr val="F6AD55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2875" y="857250"/>
            <a:ext cx="1071562" cy="1071562"/>
          </a:xfrm>
          <a:prstGeom prst="ellipse">
            <a:avLst/>
          </a:prstGeom>
          <a:solidFill>
            <a:srgbClr val="F6AD55">
              <a:alpha val="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57"/>
            <a:ext cx="9143999" cy="9572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43750" y="-213655"/>
            <a:ext cx="1285875" cy="128587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500812" y="387734"/>
            <a:ext cx="857250" cy="8572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42801" y="1158503"/>
            <a:ext cx="2000250" cy="371475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14287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801" y="1158503"/>
            <a:ext cx="2000250" cy="285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164" y="1329866"/>
            <a:ext cx="257175" cy="2571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3842" y="1702718"/>
            <a:ext cx="628650" cy="142875"/>
          </a:xfrm>
          <a:prstGeom prst="roundRect">
            <a:avLst>
              <a:gd name="adj" fmla="val 80000"/>
            </a:avLst>
          </a:prstGeom>
          <a:solidFill>
            <a:srgbClr val="C6F6D5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62"/>
              </a:spcAft>
              <a:buNone/>
            </a:pPr>
            <a:r>
              <a:rPr lang="en-US" sz="600" b="1" dirty="0">
                <a:solidFill>
                  <a:srgbClr val="22543D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CASE STUDY</a:t>
            </a:r>
            <a:endParaRPr lang="en-US" sz="600" dirty="0"/>
          </a:p>
        </p:txBody>
      </p:sp>
      <p:sp>
        <p:nvSpPr>
          <p:cNvPr id="13" name="Text 8"/>
          <p:cNvSpPr/>
          <p:nvPr/>
        </p:nvSpPr>
        <p:spPr>
          <a:xfrm>
            <a:off x="514251" y="1917067"/>
            <a:ext cx="1657350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spcAft>
                <a:spcPts val="450"/>
              </a:spcAft>
              <a:buNone/>
            </a:pPr>
            <a:r>
              <a:rPr lang="zh-CN" altLang="en-US" sz="12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即插即用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14251" y="2178050"/>
            <a:ext cx="165735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Aft>
                <a:spcPts val="900"/>
              </a:spcAft>
              <a:buNone/>
            </a:pPr>
            <a:r>
              <a:rPr lang="zh-CN" altLang="en-US" sz="8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迅速带领湖人重返争冠行列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4251" y="2453183"/>
            <a:ext cx="1657350" cy="225028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1173" y="3385443"/>
            <a:ext cx="1407319" cy="3857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加盟首季虽因伤中断，但</a:t>
            </a:r>
            <a:pPr algn="l" indent="0" marL="0">
              <a:lnSpc>
                <a:spcPts val="1434"/>
              </a:lnSpc>
              <a:buNone/>
            </a:pPr>
            <a:r>
              <a:rPr lang="zh-CN" altLang="en-US" sz="8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次年即率队夺得</a:t>
            </a:r>
            <a:pPr algn="l" indent="0" marL="0">
              <a:lnSpc>
                <a:spcPts val="1626"/>
              </a:lnSpc>
              <a:buNone/>
            </a:pPr>
            <a:r>
              <a:rPr lang="zh-CN" altLang="en-US" sz="900" b="1" dirty="0">
                <a:solidFill>
                  <a:srgbClr val="F6AD55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2020年总冠军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2485988" y="1158503"/>
            <a:ext cx="2000250" cy="371475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14287" dir="5400000">
              <a:srgbClr val="000000">
                <a:alpha val="6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85988" y="1158503"/>
            <a:ext cx="2000371" cy="2852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57289" y="1329866"/>
            <a:ext cx="257175" cy="2571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657178" y="1702718"/>
            <a:ext cx="350044" cy="142875"/>
          </a:xfrm>
          <a:prstGeom prst="roundRect">
            <a:avLst>
              <a:gd name="adj" fmla="val 80000"/>
            </a:avLst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62"/>
              </a:spcAft>
              <a:buNone/>
            </a:pPr>
            <a:r>
              <a:rPr lang="en-US" sz="600" b="1" dirty="0">
                <a:solidFill>
                  <a:srgbClr val="92400E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DATA</a:t>
            </a:r>
            <a:endParaRPr lang="en-US" sz="600" dirty="0"/>
          </a:p>
        </p:txBody>
      </p:sp>
      <p:sp>
        <p:nvSpPr>
          <p:cNvPr id="21" name="Text 13"/>
          <p:cNvSpPr/>
          <p:nvPr/>
        </p:nvSpPr>
        <p:spPr>
          <a:xfrm>
            <a:off x="2657438" y="1917067"/>
            <a:ext cx="1657350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spcAft>
                <a:spcPts val="450"/>
              </a:spcAft>
              <a:buNone/>
            </a:pPr>
            <a:r>
              <a:rPr lang="zh-CN" altLang="en-US" sz="12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刷新认知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2657438" y="2178050"/>
            <a:ext cx="165735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Aft>
                <a:spcPts val="900"/>
              </a:spcAft>
              <a:buNone/>
            </a:pPr>
            <a:r>
              <a:rPr lang="zh-CN" altLang="en-US" sz="8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39岁仍是联盟顶级进攻发起者</a:t>
            </a:r>
            <a:endParaRPr lang="en-US" sz="8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57438" y="2453183"/>
            <a:ext cx="1657350" cy="2250281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794360" y="3281858"/>
            <a:ext cx="1407319" cy="5929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2025-26赛季场均仍能贡献</a:t>
            </a:r>
            <a:pPr algn="l" indent="0" marL="0">
              <a:lnSpc>
                <a:spcPts val="1626"/>
              </a:lnSpc>
              <a:buNone/>
            </a:pPr>
            <a:r>
              <a:rPr lang="zh-CN" altLang="en-US" sz="900" b="1" dirty="0">
                <a:solidFill>
                  <a:srgbClr val="F6AD55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25分8篮板7助攻</a:t>
            </a:r>
            <a:pPr algn="l" indent="0" marL="0">
              <a:lnSpc>
                <a:spcPts val="1434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，投篮效率高于联盟平均</a:t>
            </a:r>
            <a:endParaRPr lang="en-US" sz="800" dirty="0"/>
          </a:p>
        </p:txBody>
      </p:sp>
      <p:sp>
        <p:nvSpPr>
          <p:cNvPr id="25" name="Shape 16"/>
          <p:cNvSpPr/>
          <p:nvPr/>
        </p:nvSpPr>
        <p:spPr>
          <a:xfrm>
            <a:off x="4629237" y="1158503"/>
            <a:ext cx="2000250" cy="371475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14287" dir="5400000">
              <a:srgbClr val="000000">
                <a:alpha val="6000"/>
              </a:srgbClr>
            </a:outerShdw>
          </a:effectLst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29237" y="1158503"/>
            <a:ext cx="2000371" cy="28525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00538" y="1329866"/>
            <a:ext cx="257175" cy="257175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4800427" y="1702718"/>
            <a:ext cx="350044" cy="142875"/>
          </a:xfrm>
          <a:prstGeom prst="roundRect">
            <a:avLst>
              <a:gd name="adj" fmla="val 80000"/>
            </a:avLst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62"/>
              </a:spcAft>
              <a:buNone/>
            </a:pPr>
            <a:r>
              <a:rPr lang="en-US" sz="600" b="1" dirty="0">
                <a:solidFill>
                  <a:srgbClr val="92400E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DATA</a:t>
            </a:r>
            <a:endParaRPr lang="en-US" sz="600" dirty="0"/>
          </a:p>
        </p:txBody>
      </p:sp>
      <p:sp>
        <p:nvSpPr>
          <p:cNvPr id="29" name="Text 18"/>
          <p:cNvSpPr/>
          <p:nvPr/>
        </p:nvSpPr>
        <p:spPr>
          <a:xfrm>
            <a:off x="4800687" y="1917067"/>
            <a:ext cx="1657350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spcAft>
                <a:spcPts val="450"/>
              </a:spcAft>
              <a:buNone/>
            </a:pPr>
            <a:r>
              <a:rPr lang="zh-CN" altLang="en-US" sz="12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超越时间</a:t>
            </a:r>
            <a:endParaRPr lang="en-US" sz="1200" dirty="0"/>
          </a:p>
        </p:txBody>
      </p:sp>
      <p:sp>
        <p:nvSpPr>
          <p:cNvPr id="30" name="Text 19"/>
          <p:cNvSpPr/>
          <p:nvPr/>
        </p:nvSpPr>
        <p:spPr>
          <a:xfrm>
            <a:off x="4800687" y="2179836"/>
            <a:ext cx="1657350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Aft>
                <a:spcPts val="900"/>
              </a:spcAft>
              <a:buNone/>
            </a:pPr>
            <a:r>
              <a:rPr lang="zh-CN" altLang="en-US" sz="8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持续刷新由自己保持的历史得分纪录</a:t>
            </a:r>
            <a:endParaRPr lang="en-US" sz="8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00687" y="2615704"/>
            <a:ext cx="1657350" cy="2085975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937609" y="3362226"/>
            <a:ext cx="1407319" cy="5929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在湖人期间将历史得分王纪录大幅提升，总得分向</a:t>
            </a:r>
            <a:pPr algn="l" indent="0" marL="0">
              <a:lnSpc>
                <a:spcPts val="1626"/>
              </a:lnSpc>
              <a:buNone/>
            </a:pPr>
            <a:r>
              <a:rPr lang="zh-CN" altLang="en-US" sz="900" b="1" dirty="0">
                <a:solidFill>
                  <a:srgbClr val="F6AD55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42000分</a:t>
            </a:r>
            <a:pPr algn="l" indent="0" marL="0">
              <a:lnSpc>
                <a:spcPts val="1434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进发</a:t>
            </a:r>
            <a:endParaRPr lang="en-US" sz="8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800949" y="1157536"/>
            <a:ext cx="2000250" cy="971550"/>
          </a:xfrm>
          <a:prstGeom prst="rect">
            <a:avLst/>
          </a:prstGeom>
        </p:spPr>
      </p:pic>
      <p:sp>
        <p:nvSpPr>
          <p:cNvPr id="34" name="Shape 21"/>
          <p:cNvSpPr/>
          <p:nvPr/>
        </p:nvSpPr>
        <p:spPr>
          <a:xfrm>
            <a:off x="8229699" y="1014661"/>
            <a:ext cx="714375" cy="71437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5" name="Text 22"/>
          <p:cNvSpPr/>
          <p:nvPr/>
        </p:nvSpPr>
        <p:spPr>
          <a:xfrm>
            <a:off x="6972400" y="1358441"/>
            <a:ext cx="165735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450"/>
              </a:spcAft>
              <a:buNone/>
            </a:pPr>
            <a:r>
              <a:rPr lang="en-US" sz="2600" dirty="0">
                <a:solidFill>
                  <a:srgbClr val="FFFFFF">
                    <a:alpha val="30000"/>
                  </a:srgbClr>
                </a:solidFill>
                <a:ea typeface="Georgia" pitchFamily="34" charset="-122"/>
                <a:latin typeface="Georgia" pitchFamily="34" charset="0"/>
                <a:cs typeface="Georgia" pitchFamily="34" charset="-120"/>
              </a:rPr>
              <a:t>❝</a:t>
            </a:r>
            <a:endParaRPr lang="en-US" sz="2600" dirty="0"/>
          </a:p>
        </p:txBody>
      </p:sp>
      <p:sp>
        <p:nvSpPr>
          <p:cNvPr id="36" name="Shape 23"/>
          <p:cNvSpPr/>
          <p:nvPr/>
        </p:nvSpPr>
        <p:spPr>
          <a:xfrm>
            <a:off x="6800949" y="2271477"/>
            <a:ext cx="2000250" cy="1228725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14287" dir="5400000">
              <a:srgbClr val="000000">
                <a:alpha val="6000"/>
              </a:srgbClr>
            </a:outerShdw>
          </a:effectLst>
        </p:spPr>
      </p:sp>
      <p:sp>
        <p:nvSpPr>
          <p:cNvPr id="37" name="Text 24"/>
          <p:cNvSpPr/>
          <p:nvPr/>
        </p:nvSpPr>
        <p:spPr>
          <a:xfrm>
            <a:off x="6972400" y="2441996"/>
            <a:ext cx="165735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历史得分纪录</a:t>
            </a:r>
            <a:endParaRPr lang="en-US" sz="700" dirty="0"/>
          </a:p>
        </p:txBody>
      </p:sp>
      <p:sp>
        <p:nvSpPr>
          <p:cNvPr id="38" name="Text 25"/>
          <p:cNvSpPr/>
          <p:nvPr/>
        </p:nvSpPr>
        <p:spPr>
          <a:xfrm>
            <a:off x="6972400" y="2635027"/>
            <a:ext cx="1657350" cy="3286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9"/>
              </a:lnSpc>
              <a:buNone/>
            </a:pPr>
            <a:r>
              <a:rPr lang="en-US" sz="2300" b="1" dirty="0">
                <a:solidFill>
                  <a:srgbClr val="2D3748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42K+</a:t>
            </a:r>
            <a:endParaRPr lang="en-US" sz="2300" dirty="0"/>
          </a:p>
        </p:txBody>
      </p:sp>
      <p:sp>
        <p:nvSpPr>
          <p:cNvPr id="39" name="Text 26"/>
          <p:cNvSpPr/>
          <p:nvPr/>
        </p:nvSpPr>
        <p:spPr>
          <a:xfrm>
            <a:off x="6972400" y="2994000"/>
            <a:ext cx="165735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总得分进发中</a:t>
            </a:r>
            <a:endParaRPr lang="en-US" sz="800" dirty="0"/>
          </a:p>
        </p:txBody>
      </p:sp>
      <p:sp>
        <p:nvSpPr>
          <p:cNvPr id="40" name="Text 27"/>
          <p:cNvSpPr/>
          <p:nvPr/>
        </p:nvSpPr>
        <p:spPr>
          <a:xfrm>
            <a:off x="6972400" y="3201491"/>
            <a:ext cx="1657350" cy="128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37"/>
              </a:spcBef>
              <a:buNone/>
            </a:pPr>
            <a:r>
              <a:rPr lang="zh-CN" altLang="en-US" sz="6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持续刷新自我纪录</a:t>
            </a:r>
            <a:endParaRPr lang="en-US" sz="600" dirty="0"/>
          </a:p>
        </p:txBody>
      </p:sp>
      <p:sp>
        <p:nvSpPr>
          <p:cNvPr id="41" name="Shape 28"/>
          <p:cNvSpPr/>
          <p:nvPr/>
        </p:nvSpPr>
        <p:spPr>
          <a:xfrm>
            <a:off x="6800949" y="3644044"/>
            <a:ext cx="2000250" cy="1228725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14287" dir="5400000">
              <a:srgbClr val="000000">
                <a:alpha val="6000"/>
              </a:srgbClr>
            </a:outerShdw>
          </a:effectLst>
        </p:spPr>
      </p:sp>
      <p:sp>
        <p:nvSpPr>
          <p:cNvPr id="42" name="Text 29"/>
          <p:cNvSpPr/>
          <p:nvPr/>
        </p:nvSpPr>
        <p:spPr>
          <a:xfrm>
            <a:off x="6972400" y="3814564"/>
            <a:ext cx="165735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39岁赛季场均</a:t>
            </a:r>
            <a:endParaRPr lang="en-US" sz="700" dirty="0"/>
          </a:p>
        </p:txBody>
      </p:sp>
      <p:sp>
        <p:nvSpPr>
          <p:cNvPr id="43" name="Text 30"/>
          <p:cNvSpPr/>
          <p:nvPr/>
        </p:nvSpPr>
        <p:spPr>
          <a:xfrm>
            <a:off x="6972400" y="4007594"/>
            <a:ext cx="1657350" cy="3286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9"/>
              </a:lnSpc>
              <a:buNone/>
            </a:pPr>
            <a:r>
              <a:rPr lang="en-US" sz="2300" b="1" dirty="0">
                <a:solidFill>
                  <a:srgbClr val="2D3748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25+8+7</a:t>
            </a:r>
            <a:endParaRPr lang="en-US" sz="2300" dirty="0"/>
          </a:p>
        </p:txBody>
      </p:sp>
      <p:sp>
        <p:nvSpPr>
          <p:cNvPr id="44" name="Text 31"/>
          <p:cNvSpPr/>
          <p:nvPr/>
        </p:nvSpPr>
        <p:spPr>
          <a:xfrm>
            <a:off x="6972400" y="4366567"/>
            <a:ext cx="165735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得分/篮板/助攻</a:t>
            </a:r>
            <a:endParaRPr lang="en-US" sz="800" dirty="0"/>
          </a:p>
        </p:txBody>
      </p:sp>
      <p:sp>
        <p:nvSpPr>
          <p:cNvPr id="45" name="Text 32"/>
          <p:cNvSpPr/>
          <p:nvPr/>
        </p:nvSpPr>
        <p:spPr>
          <a:xfrm>
            <a:off x="6972400" y="4574059"/>
            <a:ext cx="1657350" cy="128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37"/>
              </a:spcBef>
              <a:buNone/>
            </a:pPr>
            <a:r>
              <a:rPr lang="zh-CN" altLang="en-US" sz="6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联盟顶级水准</a:t>
            </a:r>
            <a:endParaRPr lang="en-US" sz="600" dirty="0"/>
          </a:p>
        </p:txBody>
      </p:sp>
      <p:sp>
        <p:nvSpPr>
          <p:cNvPr id="46" name="Shape 33"/>
          <p:cNvSpPr/>
          <p:nvPr/>
        </p:nvSpPr>
        <p:spPr>
          <a:xfrm>
            <a:off x="0" y="4800649"/>
            <a:ext cx="9143999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34"/>
          <p:cNvSpPr/>
          <p:nvPr/>
        </p:nvSpPr>
        <p:spPr>
          <a:xfrm>
            <a:off x="342764" y="4954575"/>
            <a:ext cx="42862" cy="42862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48" name="Text 35"/>
          <p:cNvSpPr/>
          <p:nvPr/>
        </p:nvSpPr>
        <p:spPr>
          <a:xfrm>
            <a:off x="441648" y="4901059"/>
            <a:ext cx="1178719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詹姆斯传奇生涯 · 湖人篇章</a:t>
            </a:r>
            <a:endParaRPr lang="en-US" sz="700" dirty="0"/>
          </a:p>
        </p:txBody>
      </p:sp>
      <p:sp>
        <p:nvSpPr>
          <p:cNvPr id="49" name="Text 36"/>
          <p:cNvSpPr/>
          <p:nvPr/>
        </p:nvSpPr>
        <p:spPr>
          <a:xfrm>
            <a:off x="8514333" y="4908203"/>
            <a:ext cx="28575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D3748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10 / 15</a:t>
            </a:r>
            <a:endParaRPr lang="en-US" sz="700" dirty="0"/>
          </a:p>
        </p:txBody>
      </p:sp>
      <p:sp>
        <p:nvSpPr>
          <p:cNvPr id="50" name="Text 37"/>
          <p:cNvSpPr/>
          <p:nvPr/>
        </p:nvSpPr>
        <p:spPr>
          <a:xfrm>
            <a:off x="514164" y="1329866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51" name="Text 38"/>
          <p:cNvSpPr/>
          <p:nvPr/>
        </p:nvSpPr>
        <p:spPr>
          <a:xfrm>
            <a:off x="2657289" y="1329866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52" name="Text 39"/>
          <p:cNvSpPr/>
          <p:nvPr/>
        </p:nvSpPr>
        <p:spPr>
          <a:xfrm>
            <a:off x="4800538" y="1329866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3</a:t>
            </a:r>
            <a:endParaRPr lang="en-US" sz="100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0" y="4800649"/>
            <a:ext cx="9143999" cy="34290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342901" y="199529"/>
            <a:ext cx="8458199" cy="3500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FFFFFF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湖人时期：兑现天赋与持久统治力，书写生涯新章</a:t>
            </a:r>
            <a:endParaRPr lang="en-US" sz="1900" dirty="0"/>
          </a:p>
        </p:txBody>
      </p:sp>
      <p:sp>
        <p:nvSpPr>
          <p:cNvPr id="55" name="Text 41"/>
          <p:cNvSpPr/>
          <p:nvPr/>
        </p:nvSpPr>
        <p:spPr>
          <a:xfrm>
            <a:off x="342901" y="593154"/>
            <a:ext cx="8458199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7"/>
              </a:spcBef>
              <a:buNone/>
            </a:pPr>
            <a:r>
              <a:rPr lang="zh-CN" altLang="en-US" sz="800" dirty="0">
                <a:solidFill>
                  <a:srgbClr val="FFFFFF">
                    <a:alpha val="85000"/>
                  </a:srgbClr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从加盟争冠到超越时间，定义职业长度的全新维度</a:t>
            </a:r>
            <a:endParaRPr lang="en-US" sz="800" dirty="0"/>
          </a:p>
        </p:txBody>
      </p:sp>
      <p:sp>
        <p:nvSpPr>
          <p:cNvPr id="56" name="Text 42"/>
          <p:cNvSpPr/>
          <p:nvPr/>
        </p:nvSpPr>
        <p:spPr>
          <a:xfrm>
            <a:off x="6972400" y="1759744"/>
            <a:ext cx="1657350" cy="3857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75"/>
              </a:spcAft>
              <a:buNone/>
            </a:pPr>
            <a:r>
              <a:rPr lang="zh-CN" altLang="en-US" sz="900" b="1" dirty="0">
                <a:solidFill>
                  <a:srgbClr val="FFFFFF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职业生涯的长度，决定了统治力的深度</a:t>
            </a:r>
            <a:endParaRPr lang="en-US" sz="900" dirty="0"/>
          </a:p>
        </p:txBody>
      </p:sp>
      <p:sp>
        <p:nvSpPr>
          <p:cNvPr id="57" name="Text 43"/>
          <p:cNvSpPr/>
          <p:nvPr/>
        </p:nvSpPr>
        <p:spPr>
          <a:xfrm>
            <a:off x="6972400" y="2232943"/>
            <a:ext cx="165735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dirty="0">
                <a:solidFill>
                  <a:srgbClr val="FFFFFF">
                    <a:alpha val="80000"/>
                  </a:srgbClr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— 叙事核心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3" name="Shape 1"/>
          <p:cNvSpPr/>
          <p:nvPr/>
        </p:nvSpPr>
        <p:spPr>
          <a:xfrm>
            <a:off x="4357688" y="2056036"/>
            <a:ext cx="428625" cy="28575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256656"/>
            <a:ext cx="6286499" cy="4071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17"/>
              </a:lnSpc>
              <a:spcAft>
                <a:spcPts val="900"/>
              </a:spcAft>
              <a:buNone/>
            </a:pPr>
            <a:r>
              <a:rPr lang="zh-CN" altLang="en-US" sz="2400" b="1" dirty="0">
                <a:solidFill>
                  <a:srgbClr val="FFFFFF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超越数据：历史地位与文化影响力的深远分析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28750" y="2836602"/>
            <a:ext cx="6286499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spcBef>
                <a:spcPts val="1350"/>
              </a:spcBef>
              <a:buNone/>
            </a:pPr>
            <a:r>
              <a:rPr lang="zh-CN" altLang="en-US" sz="1200" dirty="0">
                <a:solidFill>
                  <a:srgbClr val="2D3748">
                    <a:alpha val="80000"/>
                  </a:srgbClr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当数据无法触及人心，我们又该如何衡量一位球员超越胜负的、真正的历史分量？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81256" y="4699173"/>
            <a:ext cx="435769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0" y="1312168"/>
            <a:ext cx="857250" cy="857250"/>
          </a:xfrm>
          <a:prstGeom prst="ellipse">
            <a:avLst/>
          </a:prstGeom>
          <a:solidFill>
            <a:srgbClr val="F6AD5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8625" y="3613299"/>
            <a:ext cx="571500" cy="571500"/>
          </a:xfrm>
          <a:prstGeom prst="ellipse">
            <a:avLst/>
          </a:prstGeom>
          <a:solidFill>
            <a:srgbClr val="F6AD5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1511" y="1112354"/>
            <a:ext cx="4700587" cy="1228725"/>
          </a:xfrm>
          <a:prstGeom prst="roundRect">
            <a:avLst>
              <a:gd name="adj" fmla="val 5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387" y="1299393"/>
            <a:ext cx="154210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75"/>
              </a:spcAft>
              <a:buNone/>
            </a:pPr>
            <a:r>
              <a:rPr lang="zh-CN" altLang="en-US" sz="1000" b="1" dirty="0">
                <a:solidFill>
                  <a:srgbClr val="F6AD55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历史总得分王，且仍在增长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64395" y="1296615"/>
            <a:ext cx="350044" cy="164306"/>
          </a:xfrm>
          <a:prstGeom prst="roundRect">
            <a:avLst>
              <a:gd name="adj" fmla="val 69565"/>
            </a:avLst>
          </a:prstGeom>
          <a:solidFill>
            <a:srgbClr val="F6AD55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DATA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539155" y="1559681"/>
            <a:ext cx="4329112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目前总得分超过41000分，远超贾巴尔、马龙等名宿</a:t>
            </a:r>
            <a:endParaRPr lang="en-US" sz="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155" y="1796901"/>
            <a:ext cx="4329112" cy="3714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1511" y="2654647"/>
            <a:ext cx="4700587" cy="1050131"/>
          </a:xfrm>
          <a:prstGeom prst="roundRect">
            <a:avLst>
              <a:gd name="adj" fmla="val 7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387" y="2842865"/>
            <a:ext cx="3008561" cy="166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75"/>
              </a:spcAft>
              <a:buNone/>
            </a:pPr>
            <a:r>
              <a:rPr lang="zh-CN" altLang="en-US" sz="1000" b="1" dirty="0">
                <a:solidFill>
                  <a:srgbClr val="F6AD55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唯一同时达成30000分+10000篮板+10000助攻的球员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30849" y="2840087"/>
            <a:ext cx="350044" cy="164306"/>
          </a:xfrm>
          <a:prstGeom prst="roundRect">
            <a:avLst>
              <a:gd name="adj" fmla="val 69565"/>
            </a:avLst>
          </a:prstGeom>
          <a:solidFill>
            <a:srgbClr val="F6AD55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DATA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539155" y="3103153"/>
            <a:ext cx="4329112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这项数据定义了其独一无二的全面性，是后辈难以企及的标杆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39155" y="3253531"/>
            <a:ext cx="4329112" cy="2214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543D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3</a:t>
            </a:r>
            <a:pPr algn="l" indent="0" marL="0">
              <a:spcAft>
                <a:spcPts val="450"/>
              </a:spcAft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 </a:t>
            </a:r>
            <a:pPr algn="l" indent="0" marL="0">
              <a:lnSpc>
                <a:spcPts val="1181"/>
              </a:lnSpc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项里程碑数据集于一身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41511" y="4018347"/>
            <a:ext cx="4700587" cy="1228725"/>
          </a:xfrm>
          <a:prstGeom prst="roundRect">
            <a:avLst>
              <a:gd name="adj" fmla="val 5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9387" y="4205387"/>
            <a:ext cx="2441773" cy="166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75"/>
              </a:spcAft>
              <a:buNone/>
            </a:pPr>
            <a:r>
              <a:rPr lang="zh-CN" altLang="en-US" sz="1000" b="1" dirty="0">
                <a:solidFill>
                  <a:srgbClr val="F6AD55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季后赛总得分、助攻、抢断均位列历史前五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164061" y="4202608"/>
            <a:ext cx="350044" cy="164306"/>
          </a:xfrm>
          <a:prstGeom prst="roundRect">
            <a:avLst>
              <a:gd name="adj" fmla="val 69565"/>
            </a:avLst>
          </a:prstGeom>
          <a:solidFill>
            <a:srgbClr val="F6AD55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DATA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39155" y="4465675"/>
            <a:ext cx="4329112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证明他在强度最高、竞争最激烈的舞台上同样具备统治级表现</a:t>
            </a:r>
            <a:endParaRPr lang="en-US" sz="7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155" y="4702894"/>
            <a:ext cx="4329112" cy="37147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270786" y="1112565"/>
            <a:ext cx="3529012" cy="3414712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28575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70810" y="1337022"/>
            <a:ext cx="3128962" cy="2228850"/>
          </a:xfrm>
          <a:prstGeom prst="roundRect">
            <a:avLst>
              <a:gd name="adj" fmla="val 15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642260" y="1506066"/>
            <a:ext cx="2786062" cy="1928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900"/>
              </a:spcAft>
              <a:buNone/>
            </a:pPr>
            <a:r>
              <a:rPr lang="zh-CN" altLang="en-US" sz="10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NBA历史总得分排名（万分以上）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640710" y="1836936"/>
            <a:ext cx="5715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7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勒布朗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6299486" y="1811933"/>
            <a:ext cx="1614487" cy="200025"/>
          </a:xfrm>
          <a:prstGeom prst="roundRect">
            <a:avLst>
              <a:gd name="adj" fmla="val 24490"/>
            </a:avLst>
          </a:prstGeom>
          <a:solidFill>
            <a:srgbClr val="C6F6D5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9486" y="1811933"/>
            <a:ext cx="1614487" cy="20002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001248" y="1844080"/>
            <a:ext cx="428625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D3748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41,000+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5640710" y="2122562"/>
            <a:ext cx="5715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7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贾巴尔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6299486" y="2097559"/>
            <a:ext cx="1614487" cy="200025"/>
          </a:xfrm>
          <a:prstGeom prst="roundRect">
            <a:avLst>
              <a:gd name="adj" fmla="val 24490"/>
            </a:avLst>
          </a:prstGeom>
          <a:solidFill>
            <a:srgbClr val="C6F6D5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9572" y="2097559"/>
            <a:ext cx="1371600" cy="20002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001248" y="2129706"/>
            <a:ext cx="428625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D3748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38,387</a:t>
            </a:r>
            <a:endParaRPr lang="en-US" sz="700" dirty="0"/>
          </a:p>
        </p:txBody>
      </p:sp>
      <p:sp>
        <p:nvSpPr>
          <p:cNvPr id="31" name="Text 25"/>
          <p:cNvSpPr/>
          <p:nvPr/>
        </p:nvSpPr>
        <p:spPr>
          <a:xfrm>
            <a:off x="5640710" y="2408188"/>
            <a:ext cx="5715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7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马龙</a:t>
            </a:r>
            <a:endParaRPr lang="en-US" sz="700" dirty="0"/>
          </a:p>
        </p:txBody>
      </p:sp>
      <p:sp>
        <p:nvSpPr>
          <p:cNvPr id="32" name="Shape 26"/>
          <p:cNvSpPr/>
          <p:nvPr/>
        </p:nvSpPr>
        <p:spPr>
          <a:xfrm>
            <a:off x="6299486" y="2383185"/>
            <a:ext cx="1614487" cy="200025"/>
          </a:xfrm>
          <a:prstGeom prst="roundRect">
            <a:avLst>
              <a:gd name="adj" fmla="val 24490"/>
            </a:avLst>
          </a:prstGeom>
          <a:solidFill>
            <a:srgbClr val="C6F6D5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8431" y="2383185"/>
            <a:ext cx="1293019" cy="20002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001248" y="2415331"/>
            <a:ext cx="428625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D3748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36,928</a:t>
            </a:r>
            <a:endParaRPr lang="en-US" sz="700" dirty="0"/>
          </a:p>
        </p:txBody>
      </p:sp>
      <p:sp>
        <p:nvSpPr>
          <p:cNvPr id="35" name="Text 28"/>
          <p:cNvSpPr/>
          <p:nvPr/>
        </p:nvSpPr>
        <p:spPr>
          <a:xfrm>
            <a:off x="5640710" y="2693814"/>
            <a:ext cx="5715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7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科比</a:t>
            </a:r>
            <a:endParaRPr lang="en-US" sz="700" dirty="0"/>
          </a:p>
        </p:txBody>
      </p:sp>
      <p:sp>
        <p:nvSpPr>
          <p:cNvPr id="36" name="Shape 29"/>
          <p:cNvSpPr/>
          <p:nvPr/>
        </p:nvSpPr>
        <p:spPr>
          <a:xfrm>
            <a:off x="6299486" y="2668811"/>
            <a:ext cx="1614487" cy="200025"/>
          </a:xfrm>
          <a:prstGeom prst="roundRect">
            <a:avLst>
              <a:gd name="adj" fmla="val 24490"/>
            </a:avLst>
          </a:prstGeom>
          <a:solidFill>
            <a:srgbClr val="C6F6D5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97985" y="2668811"/>
            <a:ext cx="1164431" cy="20002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001248" y="2700957"/>
            <a:ext cx="428625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D3748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33,643</a:t>
            </a:r>
            <a:endParaRPr lang="en-US" sz="700" dirty="0"/>
          </a:p>
        </p:txBody>
      </p:sp>
      <p:sp>
        <p:nvSpPr>
          <p:cNvPr id="39" name="Text 31"/>
          <p:cNvSpPr/>
          <p:nvPr/>
        </p:nvSpPr>
        <p:spPr>
          <a:xfrm>
            <a:off x="5640710" y="2979440"/>
            <a:ext cx="5715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7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乔丹</a:t>
            </a:r>
            <a:endParaRPr lang="en-US" sz="700" dirty="0"/>
          </a:p>
        </p:txBody>
      </p:sp>
      <p:sp>
        <p:nvSpPr>
          <p:cNvPr id="40" name="Shape 32"/>
          <p:cNvSpPr/>
          <p:nvPr/>
        </p:nvSpPr>
        <p:spPr>
          <a:xfrm>
            <a:off x="6299486" y="2954437"/>
            <a:ext cx="1614487" cy="200025"/>
          </a:xfrm>
          <a:prstGeom prst="roundRect">
            <a:avLst>
              <a:gd name="adj" fmla="val 24490"/>
            </a:avLst>
          </a:prstGeom>
          <a:solidFill>
            <a:srgbClr val="C6F6D5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97824" y="2954437"/>
            <a:ext cx="1100137" cy="200025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001248" y="2986584"/>
            <a:ext cx="428625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D3748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32,292</a:t>
            </a:r>
            <a:endParaRPr lang="en-US" sz="70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97737" y="3289213"/>
            <a:ext cx="85725" cy="85725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524625" y="3267844"/>
            <a:ext cx="535781" cy="128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勒布朗·詹姆斯</a:t>
            </a:r>
            <a:endParaRPr lang="en-US" sz="600" dirty="0"/>
          </a:p>
        </p:txBody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201657" y="3289213"/>
            <a:ext cx="85725" cy="85725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330045" y="3267844"/>
            <a:ext cx="342900" cy="128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历史名宿</a:t>
            </a:r>
            <a:endParaRPr lang="en-US" sz="600" dirty="0"/>
          </a:p>
        </p:txBody>
      </p:sp>
      <p:sp>
        <p:nvSpPr>
          <p:cNvPr id="47" name="Text 36"/>
          <p:cNvSpPr/>
          <p:nvPr/>
        </p:nvSpPr>
        <p:spPr>
          <a:xfrm>
            <a:off x="5470810" y="3738835"/>
            <a:ext cx="3128962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数据截至2023-24赛季</a:t>
            </a:r>
            <a:endParaRPr lang="en-US" sz="700" dirty="0"/>
          </a:p>
        </p:txBody>
      </p:sp>
      <p:sp>
        <p:nvSpPr>
          <p:cNvPr id="48" name="Text 37"/>
          <p:cNvSpPr/>
          <p:nvPr/>
        </p:nvSpPr>
        <p:spPr>
          <a:xfrm>
            <a:off x="5470810" y="3945905"/>
            <a:ext cx="3128962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00" i="1" dirty="0">
                <a:solidFill>
                  <a:srgbClr val="A0AEC0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"他的得分纪录将保持很多年" — 篮球分析专家</a:t>
            </a:r>
            <a:endParaRPr lang="en-US" sz="700" dirty="0"/>
          </a:p>
        </p:txBody>
      </p:sp>
      <p:sp>
        <p:nvSpPr>
          <p:cNvPr id="49" name="Shape 38"/>
          <p:cNvSpPr/>
          <p:nvPr/>
        </p:nvSpPr>
        <p:spPr>
          <a:xfrm>
            <a:off x="0" y="4757018"/>
            <a:ext cx="9143999" cy="3857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39"/>
          <p:cNvSpPr/>
          <p:nvPr/>
        </p:nvSpPr>
        <p:spPr>
          <a:xfrm>
            <a:off x="8314358" y="4878859"/>
            <a:ext cx="485775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第 12/15 页</a:t>
            </a:r>
            <a:endParaRPr lang="en-US" sz="700" dirty="0"/>
          </a:p>
        </p:txBody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41511" y="1112354"/>
            <a:ext cx="4700587" cy="1228725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539155" y="1796901"/>
            <a:ext cx="432911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75"/>
              </a:spcBef>
              <a:buNone/>
            </a:pPr>
            <a:r>
              <a:rPr lang="zh-CN" altLang="en-US" sz="800" dirty="0">
                <a:solidFill>
                  <a:srgbClr val="9C422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联盟75年历史上，无人达到此高度，且仍在持续刷新纪录</a:t>
            </a:r>
            <a:endParaRPr lang="en-US" sz="800" dirty="0"/>
          </a:p>
        </p:txBody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41511" y="2654647"/>
            <a:ext cx="4700587" cy="1050131"/>
          </a:xfrm>
          <a:prstGeom prst="rect">
            <a:avLst/>
          </a:prstGeom>
        </p:spPr>
      </p:pic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41511" y="4018347"/>
            <a:ext cx="4700587" cy="1228725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539155" y="4702894"/>
            <a:ext cx="432911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75"/>
              </a:spcBef>
              <a:buNone/>
            </a:pPr>
            <a:r>
              <a:rPr lang="zh-CN" altLang="en-US" sz="800" dirty="0">
                <a:solidFill>
                  <a:srgbClr val="9C422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季后赛是检验巨星成色的终极舞台，其全面数据堪称完美</a:t>
            </a:r>
            <a:endParaRPr lang="en-US" sz="800" dirty="0"/>
          </a:p>
        </p:txBody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270786" y="1112565"/>
            <a:ext cx="3529012" cy="3414712"/>
          </a:xfrm>
          <a:prstGeom prst="rect">
            <a:avLst/>
          </a:prstGeom>
        </p:spPr>
      </p:pic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0" y="4757018"/>
            <a:ext cx="9143999" cy="385762"/>
          </a:xfrm>
          <a:prstGeom prst="rect">
            <a:avLst/>
          </a:prstGeom>
        </p:spPr>
      </p:pic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0" y="-1141"/>
            <a:ext cx="9143999" cy="885825"/>
          </a:xfrm>
          <a:prstGeom prst="rect">
            <a:avLst/>
          </a:prstGeom>
        </p:spPr>
      </p:pic>
      <p:sp>
        <p:nvSpPr>
          <p:cNvPr id="59" name="Shape 42"/>
          <p:cNvSpPr/>
          <p:nvPr/>
        </p:nvSpPr>
        <p:spPr>
          <a:xfrm>
            <a:off x="0" y="853880"/>
            <a:ext cx="9143999" cy="28525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60" name="Text 43"/>
          <p:cNvSpPr/>
          <p:nvPr/>
        </p:nvSpPr>
        <p:spPr>
          <a:xfrm>
            <a:off x="342901" y="201315"/>
            <a:ext cx="8458199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7"/>
              </a:lnSpc>
              <a:spcAft>
                <a:spcPts val="450"/>
              </a:spcAft>
              <a:buNone/>
            </a:pPr>
            <a:r>
              <a:rPr lang="zh-CN" altLang="en-US" sz="1500" b="1" dirty="0">
                <a:solidFill>
                  <a:srgbClr val="FFFFFF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历史坐标的锚点：与传奇们并肩的成就清单</a:t>
            </a:r>
            <a:endParaRPr lang="en-US" sz="1500" dirty="0"/>
          </a:p>
        </p:txBody>
      </p:sp>
      <p:sp>
        <p:nvSpPr>
          <p:cNvPr id="61" name="Text 44"/>
          <p:cNvSpPr/>
          <p:nvPr/>
        </p:nvSpPr>
        <p:spPr>
          <a:xfrm>
            <a:off x="342901" y="518120"/>
            <a:ext cx="8458199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00" dirty="0">
                <a:solidFill>
                  <a:srgbClr val="FFFFFF">
                    <a:alpha val="90000"/>
                  </a:srgbClr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数据支撑：横向对比历史数据，定位其独特地位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079"/>
            <a:ext cx="9143999" cy="742950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4" name="Text 2"/>
          <p:cNvSpPr/>
          <p:nvPr/>
        </p:nvSpPr>
        <p:spPr>
          <a:xfrm>
            <a:off x="285750" y="172789"/>
            <a:ext cx="8572499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7"/>
              </a:lnSpc>
              <a:spcAft>
                <a:spcPts val="225"/>
              </a:spcAft>
              <a:buNone/>
            </a:pPr>
            <a:r>
              <a:rPr lang="zh-CN" altLang="en-US" sz="1500" b="1" dirty="0">
                <a:solidFill>
                  <a:srgbClr val="FFFFFF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重新定义‘全能’：数据无法完全体现的球场影响力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5750" y="461069"/>
            <a:ext cx="8572499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00" dirty="0">
                <a:solidFill>
                  <a:srgbClr val="FFFFFF">
                    <a:alpha val="90000"/>
                  </a:srgbClr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第13页 · 回应：数据无法完全体现的球场影响力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58062" y="-714375"/>
            <a:ext cx="2143125" cy="2143125"/>
          </a:xfrm>
          <a:prstGeom prst="ellipse">
            <a:avLst/>
          </a:prstGeom>
          <a:solidFill>
            <a:srgbClr val="22543D">
              <a:alpha val="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4375" y="4286250"/>
            <a:ext cx="1428750" cy="1428750"/>
          </a:xfrm>
          <a:prstGeom prst="ellipse">
            <a:avLst/>
          </a:prstGeom>
          <a:solidFill>
            <a:srgbClr val="F6AD55">
              <a:alpha val="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5738" y="912242"/>
            <a:ext cx="5014912" cy="14073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1235" y="1026368"/>
            <a:ext cx="4707731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562"/>
              </a:spcAft>
              <a:buNone/>
            </a:pPr>
            <a:r>
              <a:rPr lang="zh-CN" altLang="en-US" sz="1100" b="1" dirty="0">
                <a:solidFill>
                  <a:srgbClr val="38A169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球场指挥官：历史顶级的进攻组织与决策能力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3790" y="1315901"/>
            <a:ext cx="335756" cy="164306"/>
          </a:xfrm>
          <a:prstGeom prst="roundRect">
            <a:avLst>
              <a:gd name="adj" fmla="val 24197"/>
            </a:avLst>
          </a:prstGeom>
          <a:solidFill>
            <a:srgbClr val="22543D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DATA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51235" y="1608720"/>
            <a:ext cx="4707731" cy="342900"/>
          </a:xfrm>
          <a:prstGeom prst="roundRect">
            <a:avLst>
              <a:gd name="adj" fmla="val 8333"/>
            </a:avLst>
          </a:prstGeom>
          <a:solidFill>
            <a:srgbClr val="E9C46A">
              <a:alpha val="15000"/>
            </a:srgbClr>
          </a:solidFill>
          <a:ln w="7937">
            <a:solidFill>
              <a:srgbClr val="E9C46A">
                <a:alpha val="4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zh-CN" altLang="en-US" sz="800" b="1" dirty="0">
                <a:solidFill>
                  <a:srgbClr val="F6AD55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职业生涯场均7.4助攻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2438" y="2030388"/>
            <a:ext cx="400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40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作为前锋是历史罕见的进攻体系大脑，展现了超越位置的组织视野与决策智慧。</a:t>
            </a:r>
            <a:endParaRPr lang="en-US" sz="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38" y="2433092"/>
            <a:ext cx="5014912" cy="110728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235" y="2548012"/>
            <a:ext cx="4707731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562"/>
              </a:spcAft>
              <a:buNone/>
            </a:pPr>
            <a:r>
              <a:rPr lang="zh-CN" altLang="en-US" sz="1100" b="1" dirty="0">
                <a:solidFill>
                  <a:srgbClr val="38A169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身体与球商的完美结合：从飞天遁地到地板流大师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1235" y="2837545"/>
            <a:ext cx="528637" cy="164306"/>
          </a:xfrm>
          <a:prstGeom prst="roundRect">
            <a:avLst>
              <a:gd name="adj" fmla="val 24197"/>
            </a:avLst>
          </a:prstGeom>
          <a:solidFill>
            <a:srgbClr val="22543D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ANALYSIS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451235" y="3060303"/>
            <a:ext cx="4707731" cy="3643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早期依靠历史级身体素质统治比赛，后期更多利用阅读比赛和经验打球，完成了从天赋到智慧的完美转型，延长了职业生涯巅峰。</a:t>
            </a:r>
            <a:endParaRPr lang="en-US" sz="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738" y="3653110"/>
            <a:ext cx="5014912" cy="110728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1235" y="3768031"/>
            <a:ext cx="4707731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562"/>
              </a:spcAft>
              <a:buNone/>
            </a:pPr>
            <a:r>
              <a:rPr lang="zh-CN" altLang="en-US" sz="1100" b="1" dirty="0">
                <a:solidFill>
                  <a:srgbClr val="38A169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自带体系：任何球队得到他即拥有季后赛乃至争冠基础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1235" y="4057563"/>
            <a:ext cx="528637" cy="164306"/>
          </a:xfrm>
          <a:prstGeom prst="roundRect">
            <a:avLst>
              <a:gd name="adj" fmla="val 24197"/>
            </a:avLst>
          </a:prstGeom>
          <a:solidFill>
            <a:srgbClr val="22543D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ANALYSIS</a:t>
            </a:r>
            <a:endParaRPr lang="en-US" sz="600" dirty="0"/>
          </a:p>
        </p:txBody>
      </p:sp>
      <p:sp>
        <p:nvSpPr>
          <p:cNvPr id="20" name="Text 15"/>
          <p:cNvSpPr/>
          <p:nvPr/>
        </p:nvSpPr>
        <p:spPr>
          <a:xfrm>
            <a:off x="451235" y="4280321"/>
            <a:ext cx="4707731" cy="3643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其所在球队从未缺席季后赛（伤病除外），多次以不同身份率队闯入总决赛。这证明了他作为体系基石的绝对价值，其影响力远超基础数据统计。</a:t>
            </a:r>
            <a:endParaRPr lang="en-US" sz="8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14963" y="913718"/>
            <a:ext cx="3343275" cy="11715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57838" y="1242343"/>
            <a:ext cx="3057525" cy="428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7"/>
              </a:lnSpc>
              <a:spcBef>
                <a:spcPts val="1125"/>
              </a:spcBef>
              <a:spcAft>
                <a:spcPts val="675"/>
              </a:spcAft>
              <a:buNone/>
            </a:pPr>
            <a:r>
              <a:rPr lang="zh-CN" altLang="en-US" sz="1100" b="1" i="1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他的伟大不仅是得分，更是对比赛全方位的掌控。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657838" y="1757462"/>
            <a:ext cx="3057525" cy="1571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8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— 演讲备注核心观点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5514963" y="2200387"/>
            <a:ext cx="3343275" cy="1721644"/>
          </a:xfrm>
          <a:prstGeom prst="roundRect">
            <a:avLst>
              <a:gd name="adj" fmla="val 2645"/>
            </a:avLst>
          </a:prstGeom>
          <a:solidFill>
            <a:srgbClr val="FFFFFF"/>
          </a:solidFill>
          <a:ln/>
        </p:spPr>
      </p:sp>
      <p:sp>
        <p:nvSpPr>
          <p:cNvPr id="25" name="Text 19"/>
          <p:cNvSpPr/>
          <p:nvPr/>
        </p:nvSpPr>
        <p:spPr>
          <a:xfrm>
            <a:off x="5657838" y="2358603"/>
            <a:ext cx="3057525" cy="19288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75"/>
              </a:spcAft>
              <a:buNone/>
            </a:pPr>
            <a:r>
              <a:rPr lang="zh-CN" altLang="en-US" sz="10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球场影响力的非数据维度</a:t>
            </a:r>
            <a:endParaRPr lang="en-US" sz="10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5738" y="912242"/>
            <a:ext cx="5014912" cy="1407319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5738" y="2433092"/>
            <a:ext cx="5014912" cy="1107281"/>
          </a:xfrm>
          <a:prstGeom prst="rect">
            <a:avLst/>
          </a:prstGeom>
        </p:spPr>
      </p:pic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5738" y="3653110"/>
            <a:ext cx="5014912" cy="1107281"/>
          </a:xfrm>
          <a:prstGeom prst="rect">
            <a:avLst/>
          </a:prstGeom>
        </p:spPr>
      </p:pic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14963" y="2200387"/>
            <a:ext cx="3343275" cy="17216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657838" y="2635746"/>
            <a:ext cx="30575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进攻发起点：吸引包夹为队友创造空间</a:t>
            </a:r>
            <a:endParaRPr lang="en-US" sz="800" dirty="0"/>
          </a:p>
          <a:p>
            <a:pPr algn="l" indent="0" marL="0">
              <a:lnSpc>
                <a:spcPts val="1350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比赛节奏控制器：阅读防守，指挥跑位</a:t>
            </a:r>
            <a:endParaRPr lang="en-US" sz="800" dirty="0"/>
          </a:p>
          <a:p>
            <a:pPr algn="l" indent="0" marL="0">
              <a:lnSpc>
                <a:spcPts val="1350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关键时刻决策者：季后赛经验与领袖气质</a:t>
            </a:r>
            <a:endParaRPr lang="en-US" sz="800" dirty="0"/>
          </a:p>
          <a:p>
            <a:pPr algn="l" indent="0" marL="0">
              <a:lnSpc>
                <a:spcPts val="1350"/>
              </a:lnSpc>
              <a:buNone/>
            </a:pPr>
            <a:r>
              <a:rPr lang="zh-CN" altLang="en-US" sz="8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防守威慑力：顶级协防与换防能力</a:t>
            </a:r>
            <a:endParaRPr lang="en-US" sz="800" dirty="0"/>
          </a:p>
        </p:txBody>
      </p:sp>
      <p:sp>
        <p:nvSpPr>
          <p:cNvPr id="31" name="Text 21"/>
          <p:cNvSpPr/>
          <p:nvPr/>
        </p:nvSpPr>
        <p:spPr>
          <a:xfrm>
            <a:off x="8107412" y="4793109"/>
            <a:ext cx="750094" cy="207169"/>
          </a:xfrm>
          <a:prstGeom prst="roundRect">
            <a:avLst>
              <a:gd name="adj" fmla="val 45660"/>
            </a:avLst>
          </a:prstGeom>
          <a:solidFill>
            <a:srgbClr val="FFFFFF">
              <a:alpha val="80000"/>
            </a:srgbClr>
          </a:solidFill>
          <a:ln w="7937">
            <a:solidFill>
              <a:srgbClr val="C6F6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第 13 / 15 页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0FF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339"/>
            <a:ext cx="9143999" cy="6000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5750" y="172789"/>
            <a:ext cx="8572499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7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超越篮球：作为文化符号与商业帝国的影响力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-357187" y="4071937"/>
            <a:ext cx="1428750" cy="1428750"/>
          </a:xfrm>
          <a:prstGeom prst="ellipse">
            <a:avLst/>
          </a:prstGeom>
          <a:solidFill>
            <a:srgbClr val="F6AD55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8001000" y="817066"/>
            <a:ext cx="857250" cy="857250"/>
          </a:xfrm>
          <a:prstGeom prst="ellipse">
            <a:avLst/>
          </a:prstGeom>
          <a:solidFill>
            <a:srgbClr val="38A169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85751" y="775903"/>
            <a:ext cx="5929312" cy="985837"/>
          </a:xfrm>
          <a:prstGeom prst="roundRect">
            <a:avLst>
              <a:gd name="adj" fmla="val 80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28575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9822" y="916632"/>
            <a:ext cx="5564981" cy="20716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75"/>
              </a:spcAft>
              <a:buNone/>
            </a:pPr>
            <a:r>
              <a:rPr lang="zh-CN" altLang="en-US" sz="12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场外领袖：在社会议题上积极发声，建立‘我承诺’学校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9822" y="916632"/>
            <a:ext cx="71437" cy="71437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0" name="Text 7"/>
          <p:cNvSpPr/>
          <p:nvPr/>
        </p:nvSpPr>
        <p:spPr>
          <a:xfrm>
            <a:off x="637468" y="1245580"/>
            <a:ext cx="621506" cy="164306"/>
          </a:xfrm>
          <a:prstGeom prst="roundRect">
            <a:avLst>
              <a:gd name="adj" fmla="val 24197"/>
            </a:avLst>
          </a:prstGeom>
          <a:solidFill>
            <a:srgbClr val="F6AD55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6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CASE STUDY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349338" y="1197595"/>
            <a:ext cx="3971925" cy="221456"/>
          </a:xfrm>
          <a:prstGeom prst="roundRect">
            <a:avLst>
              <a:gd name="adj" fmla="val 13319"/>
            </a:avLst>
          </a:prstGeom>
          <a:solidFill>
            <a:srgbClr val="FF9800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000" b="1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创办的公立学校为阿克伦贫困儿童提供免费教育，影响力远超体育界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8101" y="1224979"/>
            <a:ext cx="5324450" cy="372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zh-CN" altLang="en-US" sz="10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，这一行动展现了其作为社会活动家的深度与承诺。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85751" y="1908113"/>
            <a:ext cx="5929312" cy="985837"/>
          </a:xfrm>
          <a:prstGeom prst="roundRect">
            <a:avLst>
              <a:gd name="adj" fmla="val 80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28575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9822" y="2048842"/>
            <a:ext cx="5564981" cy="20716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75"/>
              </a:spcAft>
              <a:buNone/>
            </a:pPr>
            <a:r>
              <a:rPr lang="zh-CN" altLang="en-US" sz="12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商业帝国：打造以自己为核心的商业版图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9822" y="2048842"/>
            <a:ext cx="71437" cy="71437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6" name="Text 13"/>
          <p:cNvSpPr/>
          <p:nvPr/>
        </p:nvSpPr>
        <p:spPr>
          <a:xfrm>
            <a:off x="637530" y="2377790"/>
            <a:ext cx="335756" cy="164306"/>
          </a:xfrm>
          <a:prstGeom prst="roundRect">
            <a:avLst>
              <a:gd name="adj" fmla="val 24197"/>
            </a:avLst>
          </a:prstGeom>
          <a:solidFill>
            <a:srgbClr val="22543D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6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DATA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1029767" y="2357189"/>
            <a:ext cx="584522" cy="166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zh-CN" altLang="en-US" sz="10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其创立的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615927" y="2329805"/>
            <a:ext cx="3543300" cy="221456"/>
          </a:xfrm>
          <a:prstGeom prst="roundRect">
            <a:avLst>
              <a:gd name="adj" fmla="val 13319"/>
            </a:avLst>
          </a:prstGeom>
          <a:solidFill>
            <a:srgbClr val="FF9800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000" b="1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SpringHill公司估值数十亿，涉足影视、媒体、投资多个领域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8101" y="2357189"/>
            <a:ext cx="5293816" cy="372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zh-CN" altLang="en-US" sz="10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，证明了他将个人品牌转化为可持续商业资产的能力。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85751" y="3040323"/>
            <a:ext cx="5929312" cy="985837"/>
          </a:xfrm>
          <a:prstGeom prst="roundRect">
            <a:avLst>
              <a:gd name="adj" fmla="val 80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28575" dir="54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79822" y="3181052"/>
            <a:ext cx="5564981" cy="20716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75"/>
              </a:spcAft>
              <a:buNone/>
            </a:pPr>
            <a:r>
              <a:rPr lang="zh-CN" altLang="en-US" sz="12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持久偶像：职业生涯长度与曝光度塑造了全球级文化符号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9822" y="3181052"/>
            <a:ext cx="71437" cy="71437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3" name="Text 20"/>
          <p:cNvSpPr/>
          <p:nvPr/>
        </p:nvSpPr>
        <p:spPr>
          <a:xfrm>
            <a:off x="638089" y="3510000"/>
            <a:ext cx="514350" cy="164306"/>
          </a:xfrm>
          <a:prstGeom prst="roundRect">
            <a:avLst>
              <a:gd name="adj" fmla="val 24197"/>
            </a:avLst>
          </a:prstGeom>
          <a:solidFill>
            <a:srgbClr val="F6AD55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600" b="1" dirty="0">
                <a:solidFill>
                  <a:srgbClr val="FFFFFF"/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ANALYSIS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1209477" y="3489399"/>
            <a:ext cx="713011" cy="166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zh-CN" altLang="en-US" sz="10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他的影响力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921359" y="3462015"/>
            <a:ext cx="3586162" cy="221456"/>
          </a:xfrm>
          <a:prstGeom prst="roundRect">
            <a:avLst>
              <a:gd name="adj" fmla="val 13319"/>
            </a:avLst>
          </a:prstGeom>
          <a:solidFill>
            <a:srgbClr val="FF9800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000" b="1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跨越了互联网时代，成为数代球迷共同的篮球记忆与青春象征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8101" y="3489399"/>
            <a:ext cx="5382369" cy="372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zh-CN" altLang="en-US" sz="1000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，这种持久性是构建文化符号的关键。</a:t>
            </a:r>
            <a:endParaRPr lang="en-US" sz="10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9375" y="773212"/>
            <a:ext cx="2428875" cy="12644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600825" y="944711"/>
            <a:ext cx="2085975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75"/>
              </a:spcAft>
              <a:buNone/>
            </a:pPr>
            <a:r>
              <a:rPr lang="zh-CN" altLang="en-US" sz="1100" b="1" dirty="0">
                <a:solidFill>
                  <a:srgbClr val="FFFFFF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核心演讲观点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600825" y="1286706"/>
            <a:ext cx="2085975" cy="5786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zh-CN" altLang="en-US" sz="1000" dirty="0">
                <a:solidFill>
                  <a:srgbClr val="FFFFFF">
                    <a:alpha val="90000"/>
                  </a:srgbClr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他的影响力早已超越球场，成为一种文化现象和社会力量，这为他最终的“终极荣耀”奠定了独一无二的基石。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429375" y="2179836"/>
            <a:ext cx="2428875" cy="1500187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5725" dist="28575" dir="5400000">
              <a:srgbClr val="000000">
                <a:alpha val="8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6600825" y="2366863"/>
            <a:ext cx="2085975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450"/>
              </a:spcAft>
              <a:buNone/>
            </a:pPr>
            <a:r>
              <a:rPr lang="en-US" sz="2200" dirty="0">
                <a:solidFill>
                  <a:srgbClr val="F6AD55">
                    <a:alpha val="40000"/>
                  </a:srgbClr>
                </a:solidFill>
                <a:ea typeface="Segoe UI" pitchFamily="34" charset="-122"/>
                <a:latin typeface="Segoe UI" pitchFamily="34" charset="0"/>
                <a:cs typeface="Segoe UI" pitchFamily="34" charset="-120"/>
              </a:rPr>
              <a:t>❝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6600825" y="2709627"/>
            <a:ext cx="2085975" cy="5786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spcAft>
                <a:spcPts val="675"/>
              </a:spcAft>
              <a:buNone/>
            </a:pPr>
            <a:r>
              <a:rPr lang="zh-CN" altLang="en-US" sz="1000" i="1" dirty="0">
                <a:solidFill>
                  <a:srgbClr val="2D3748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我不仅仅是一名篮球运动员。我是一个父亲、一个丈夫、一个商人，也是一个试图用平台改变世界的公民。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600825" y="3373537"/>
            <a:ext cx="2085975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7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— 勒布朗·詹姆斯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8087705" y="4770487"/>
            <a:ext cx="771525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7937">
            <a:solidFill>
              <a:srgbClr val="C6F6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第14 / 15页</a:t>
            </a:r>
            <a:endParaRPr lang="en-US" sz="8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751" y="775903"/>
            <a:ext cx="5929312" cy="985837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751" y="1908113"/>
            <a:ext cx="5929312" cy="985837"/>
          </a:xfrm>
          <a:prstGeom prst="rect">
            <a:avLst/>
          </a:prstGeom>
        </p:spPr>
      </p:pic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5751" y="3040323"/>
            <a:ext cx="5929312" cy="985837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0825" y="944711"/>
            <a:ext cx="2085975" cy="257175"/>
          </a:xfrm>
          <a:prstGeom prst="rect">
            <a:avLst/>
          </a:prstGeom>
        </p:spPr>
      </p:pic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29375" y="2179836"/>
            <a:ext cx="2428875" cy="15001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4357688" y="1093118"/>
            <a:ext cx="428625" cy="28575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4" name="Text 2"/>
          <p:cNvSpPr/>
          <p:nvPr/>
        </p:nvSpPr>
        <p:spPr>
          <a:xfrm>
            <a:off x="1900238" y="1293726"/>
            <a:ext cx="5343525" cy="5643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55"/>
              </a:lnSpc>
              <a:spcAft>
                <a:spcPts val="1125"/>
              </a:spcAft>
              <a:buNone/>
            </a:pPr>
            <a:r>
              <a:rPr lang="zh-CN" altLang="en-US" sz="2400" b="1" dirty="0">
                <a:solidFill>
                  <a:srgbClr val="22543D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他的遗产：重新定义伟大球员的可能性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057588" y="2883719"/>
            <a:ext cx="1028700" cy="5500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Aft>
                <a:spcPts val="1350"/>
              </a:spcAft>
              <a:buNone/>
            </a:pPr>
            <a:r>
              <a:rPr lang="zh-CN" altLang="en-US" sz="2600" b="1" dirty="0">
                <a:solidFill>
                  <a:srgbClr val="F6AD55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谢谢！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286250" y="3604468"/>
            <a:ext cx="571500" cy="28575"/>
          </a:xfrm>
          <a:prstGeom prst="roundRect">
            <a:avLst>
              <a:gd name="adj" fmla="val 400000"/>
            </a:avLst>
          </a:prstGeom>
          <a:solidFill>
            <a:srgbClr val="F6AD55"/>
          </a:solidFill>
          <a:ln/>
        </p:spPr>
      </p:sp>
      <p:sp>
        <p:nvSpPr>
          <p:cNvPr id="7" name="Text 5"/>
          <p:cNvSpPr/>
          <p:nvPr/>
        </p:nvSpPr>
        <p:spPr>
          <a:xfrm>
            <a:off x="3000375" y="3847319"/>
            <a:ext cx="314325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zh-CN" altLang="en-US" sz="1100" dirty="0">
                <a:solidFill>
                  <a:srgbClr val="68D391"/>
                </a:solidFill>
                <a:ea typeface="微软雅黑" pitchFamily="34" charset="-122"/>
                <a:latin typeface="Segoe UI" pitchFamily="34" charset="0"/>
                <a:cs typeface="微软雅黑" pitchFamily="34" charset="-120"/>
              </a:rPr>
              <a:t>他的遗产，在于证明伟大并非只有一种标准答案。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81256" y="4699173"/>
            <a:ext cx="435769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000" dirty="0">
                <a:solidFill>
                  <a:srgbClr val="68D391"/>
                </a:solidFill>
                <a:ea typeface="微软雅黑" pitchFamily="34" charset="-122"/>
                <a:latin typeface="Microsoft YaHei" pitchFamily="34" charset="0"/>
                <a:cs typeface="微软雅黑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2026-05-16T12:00:36Z</dcterms:created>
  <dcterms:modified xsi:type="dcterms:W3CDTF">2026-05-16T12:00:36Z</dcterms:modified>
</cp:coreProperties>
</file>